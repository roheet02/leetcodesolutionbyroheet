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293" r:id="rId3"/>
    <p:sldId id="295" r:id="rId4"/>
    <p:sldId id="302" r:id="rId5"/>
    <p:sldId id="294" r:id="rId6"/>
    <p:sldId id="304" r:id="rId7"/>
    <p:sldId id="301" r:id="rId8"/>
    <p:sldId id="275" r:id="rId9"/>
    <p:sldId id="300" r:id="rId10"/>
    <p:sldId id="297" r:id="rId11"/>
    <p:sldId id="306" r:id="rId12"/>
    <p:sldId id="298" r:id="rId13"/>
    <p:sldId id="299" r:id="rId14"/>
    <p:sldId id="305" r:id="rId15"/>
    <p:sldId id="309" r:id="rId16"/>
    <p:sldId id="308" r:id="rId17"/>
  </p:sldIdLst>
  <p:sldSz cx="9144000" cy="5143500" type="screen16x9"/>
  <p:notesSz cx="6858000" cy="9144000"/>
  <p:embeddedFontLst>
    <p:embeddedFont>
      <p:font typeface="Abadi" panose="020B0604020104020204" pitchFamily="34" charset="0"/>
      <p:regular r:id="rId19"/>
    </p:embeddedFont>
    <p:embeddedFont>
      <p:font typeface="Assistant" pitchFamily="2" charset="-79"/>
      <p:regular r:id="rId2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  <p:embeddedFont>
      <p:font typeface="Oswald" pitchFamily="2" charset="77"/>
      <p:regular r:id="rId27"/>
      <p:bold r:id="rId28"/>
    </p:embeddedFont>
    <p:embeddedFont>
      <p:font typeface="Raleway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033A30-AE2F-4520-BF7A-3F1BC4AB6106}">
  <a:tblStyle styleId="{F8033A30-AE2F-4520-BF7A-3F1BC4AB61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C208FE1-C87D-479C-9DD2-0D5B31C327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6"/>
  </p:normalViewPr>
  <p:slideViewPr>
    <p:cSldViewPr snapToGrid="0">
      <p:cViewPr varScale="1">
        <p:scale>
          <a:sx n="149" d="100"/>
          <a:sy n="149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98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605100"/>
            <a:ext cx="4762500" cy="25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366325" y="3346225"/>
            <a:ext cx="2064600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 flipH="1">
            <a:off x="0" y="-16125"/>
            <a:ext cx="9144000" cy="8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8320925" y="-150"/>
            <a:ext cx="82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544475" y="4713650"/>
            <a:ext cx="4506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125" y="4497050"/>
            <a:ext cx="9144000" cy="64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4909300" y="1865275"/>
            <a:ext cx="2274000" cy="12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1"/>
          </p:nvPr>
        </p:nvSpPr>
        <p:spPr>
          <a:xfrm>
            <a:off x="4909400" y="3151075"/>
            <a:ext cx="2274000" cy="9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544475" y="4713650"/>
            <a:ext cx="4506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0"/>
            <a:ext cx="713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ldNum" idx="12"/>
          </p:nvPr>
        </p:nvSpPr>
        <p:spPr>
          <a:xfrm>
            <a:off x="8544475" y="4713650"/>
            <a:ext cx="450600" cy="30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-75" y="4604000"/>
            <a:ext cx="9144000" cy="53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8544475" y="4713650"/>
            <a:ext cx="450600" cy="30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4475" y="4713650"/>
            <a:ext cx="4506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buNone/>
              <a:defRPr sz="1500" b="1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64" r:id="rId4"/>
    <p:sldLayoutId id="2147483673" r:id="rId5"/>
    <p:sldLayoutId id="214748367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ctrTitle"/>
          </p:nvPr>
        </p:nvSpPr>
        <p:spPr>
          <a:xfrm>
            <a:off x="713075" y="1130967"/>
            <a:ext cx="4762500" cy="25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Vector Auto Regression</a:t>
            </a:r>
          </a:p>
        </p:txBody>
      </p:sp>
      <p:sp>
        <p:nvSpPr>
          <p:cNvPr id="182" name="Google Shape;182;p32"/>
          <p:cNvSpPr txBox="1">
            <a:spLocks noGrp="1"/>
          </p:cNvSpPr>
          <p:nvPr>
            <p:ph type="subTitle" idx="1"/>
          </p:nvPr>
        </p:nvSpPr>
        <p:spPr>
          <a:xfrm>
            <a:off x="6366325" y="3422425"/>
            <a:ext cx="2064600" cy="1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Abadi" panose="020F0502020204030204" pitchFamily="34" charset="0"/>
              </a:rPr>
              <a:t>Group </a:t>
            </a:r>
            <a:r>
              <a:rPr lang="en-US" sz="1400">
                <a:latin typeface="Abadi" panose="020F0502020204030204" pitchFamily="34" charset="0"/>
              </a:rPr>
              <a:t>No:5</a:t>
            </a:r>
            <a:endParaRPr lang="en-US" sz="1400" dirty="0">
              <a:latin typeface="Abad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Abadi" panose="020F0502020204030204" pitchFamily="34" charset="0"/>
              </a:rPr>
              <a:t>Tanmay Desai –A006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latin typeface="Abadi" panose="020F0502020204030204" pitchFamily="34" charset="0"/>
              </a:rPr>
              <a:t>Sachin</a:t>
            </a:r>
            <a:r>
              <a:rPr lang="en-US" sz="1400" dirty="0">
                <a:latin typeface="Abadi" panose="020F0502020204030204" pitchFamily="34" charset="0"/>
              </a:rPr>
              <a:t> Dwivedi –A008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Abadi" panose="020F0502020204030204" pitchFamily="34" charset="0"/>
              </a:rPr>
              <a:t>Rohit Fuke-A010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Abadi" panose="020F0502020204030204" pitchFamily="34" charset="0"/>
                <a:sym typeface="Assistant"/>
              </a:rPr>
              <a:t>Dhruv Gilda- A012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Abadi" panose="020F0502020204030204" pitchFamily="34" charset="0"/>
              </a:rPr>
              <a:t>Harsh –</a:t>
            </a:r>
            <a:r>
              <a:rPr lang="en-US" sz="1400" dirty="0">
                <a:latin typeface="Abadi" panose="020B0604020104020204" pitchFamily="34" charset="0"/>
              </a:rPr>
              <a:t>A020</a:t>
            </a:r>
            <a:endParaRPr sz="1400" dirty="0">
              <a:latin typeface="Abadi" panose="020B0604020104020204" pitchFamily="34" charset="0"/>
              <a:sym typeface="Assistant"/>
            </a:endParaRPr>
          </a:p>
        </p:txBody>
      </p:sp>
      <p:cxnSp>
        <p:nvCxnSpPr>
          <p:cNvPr id="183" name="Google Shape;183;p32"/>
          <p:cNvCxnSpPr/>
          <p:nvPr/>
        </p:nvCxnSpPr>
        <p:spPr>
          <a:xfrm>
            <a:off x="6166200" y="3486375"/>
            <a:ext cx="0" cy="170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32"/>
          <p:cNvSpPr txBox="1">
            <a:spLocks noGrp="1"/>
          </p:cNvSpPr>
          <p:nvPr>
            <p:ph type="subTitle" idx="1"/>
          </p:nvPr>
        </p:nvSpPr>
        <p:spPr>
          <a:xfrm>
            <a:off x="713225" y="254175"/>
            <a:ext cx="1682842" cy="2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Abadi" panose="020B0604020104020204" pitchFamily="34" charset="0"/>
              </a:rPr>
              <a:t>Time Series Analysis</a:t>
            </a:r>
            <a:endParaRPr sz="1300" b="1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4ECFF-EBB7-619D-7F15-7583D423D5F8}"/>
              </a:ext>
            </a:extLst>
          </p:cNvPr>
          <p:cNvSpPr txBox="1"/>
          <p:nvPr/>
        </p:nvSpPr>
        <p:spPr>
          <a:xfrm>
            <a:off x="8034867" y="41486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tx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5BC6-EB88-4FCC-C87B-82721D84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What is Vector Auto Regression?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BA8A6-5B49-25D5-D148-136F63E195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12550-DEA3-0C26-2112-5F613C783CA3}"/>
              </a:ext>
            </a:extLst>
          </p:cNvPr>
          <p:cNvSpPr txBox="1"/>
          <p:nvPr/>
        </p:nvSpPr>
        <p:spPr>
          <a:xfrm>
            <a:off x="720000" y="1384286"/>
            <a:ext cx="72617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Vector Auto Regression, is a statistical method used for time series analysis and forecasting.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It is particularly useful when dealing with multiple time series variables that are interrelated.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In VAR, you model the dependencies and relationships among these variables by considering their past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badi" panose="020B0604020104020204" pitchFamily="34" charset="0"/>
              </a:rPr>
              <a:t>VAR Is different from other Autoregressive models like AR, ARMA or ARIMA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badi" panose="020B0604020104020204" pitchFamily="34" charset="0"/>
              </a:rPr>
              <a:t>A Vector autoregressive (VAR) model is useful when one is interested in predicting multiple time series variables using a single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badi" panose="020B0604020104020204" pitchFamily="34" charset="0"/>
              </a:rPr>
              <a:t>VAR model is an extension of the univariate autoregressive model.</a:t>
            </a:r>
            <a:endParaRPr lang="en-US" dirty="0">
              <a:latin typeface="Abadi" panose="020B0604020104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89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3983-78D2-6461-A5BD-3E900891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Abadi" panose="020B0604020104020204" pitchFamily="34" charset="0"/>
              </a:rPr>
              <a:t>VAR Model Structure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61E658-6652-9663-88D2-6D163FD069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D486B-54E8-D0E3-6A09-657CA33C68AA}"/>
                  </a:ext>
                </a:extLst>
              </p:cNvPr>
              <p:cNvSpPr txBox="1"/>
              <p:nvPr/>
            </p:nvSpPr>
            <p:spPr>
              <a:xfrm>
                <a:off x="517021" y="1609579"/>
                <a:ext cx="665717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+. . . .+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D486B-54E8-D0E3-6A09-657CA33C6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21" y="1609579"/>
                <a:ext cx="6657173" cy="39074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3E9597-21F0-E4FF-8B57-7F85F00D0587}"/>
                  </a:ext>
                </a:extLst>
              </p:cNvPr>
              <p:cNvSpPr txBox="1"/>
              <p:nvPr/>
            </p:nvSpPr>
            <p:spPr>
              <a:xfrm>
                <a:off x="1069383" y="2282215"/>
                <a:ext cx="6703017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badi" panose="020B0604020104020204" pitchFamily="34" charset="0"/>
                  </a:rPr>
                  <a:t>,. . 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Abadi" panose="020B0604020104020204" pitchFamily="34" charset="0"/>
                  </a:rPr>
                  <a:t>: an (n x1) vector of time series variables</a:t>
                </a:r>
              </a:p>
              <a:p>
                <a:endParaRPr lang="en-US" sz="1600" dirty="0">
                  <a:latin typeface="Abadi" panose="020B0604020104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dirty="0">
                    <a:latin typeface="Abadi" panose="020B0604020104020204" pitchFamily="34" charset="0"/>
                    <a:ea typeface="Cambria Math" panose="02040503050406030204" pitchFamily="18" charset="0"/>
                  </a:rPr>
                  <a:t>:  an (nx1) vector of intercepts</a:t>
                </a:r>
              </a:p>
              <a:p>
                <a:endParaRPr lang="en-US" sz="1600" dirty="0"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Abadi" panose="020B0604020104020204" pitchFamily="34" charset="0"/>
                    <a:ea typeface="Cambria Math" panose="02040503050406030204" pitchFamily="18" charset="0"/>
                  </a:rPr>
                  <a:t>( i= 1,2,...p): (n x n) coefficient matrices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i="1" dirty="0"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badi" panose="020B0604020104020204" pitchFamily="34" charset="0"/>
                    <a:ea typeface="Cambria Math" panose="02040503050406030204" pitchFamily="18" charset="0"/>
                  </a:rPr>
                  <a:t>: an (n x 1) vector of unobservable </a:t>
                </a:r>
                <a:r>
                  <a:rPr lang="en-US" sz="1600" dirty="0" err="1">
                    <a:latin typeface="Abadi" panose="020B0604020104020204" pitchFamily="34" charset="0"/>
                    <a:ea typeface="Cambria Math" panose="02040503050406030204" pitchFamily="18" charset="0"/>
                  </a:rPr>
                  <a:t>i.i.d</a:t>
                </a:r>
                <a:r>
                  <a:rPr lang="en-US" sz="1600" dirty="0">
                    <a:latin typeface="Abadi" panose="020B0604020104020204" pitchFamily="34" charset="0"/>
                    <a:ea typeface="Cambria Math" panose="02040503050406030204" pitchFamily="18" charset="0"/>
                  </a:rPr>
                  <a:t> zero mean error term (white noise)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3E9597-21F0-E4FF-8B57-7F85F00D0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83" y="2282215"/>
                <a:ext cx="6703017" cy="2492990"/>
              </a:xfrm>
              <a:prstGeom prst="rect">
                <a:avLst/>
              </a:prstGeom>
              <a:blipFill>
                <a:blip r:embed="rId3"/>
                <a:stretch>
                  <a:fillRect l="-379"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91CF098-26FC-3E1E-DE53-9E11D8E9ED23}"/>
              </a:ext>
            </a:extLst>
          </p:cNvPr>
          <p:cNvSpPr txBox="1"/>
          <p:nvPr/>
        </p:nvSpPr>
        <p:spPr>
          <a:xfrm>
            <a:off x="1069383" y="1160128"/>
            <a:ext cx="198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0"/>
              </a:rPr>
              <a:t>Var(p) model</a:t>
            </a:r>
          </a:p>
        </p:txBody>
      </p:sp>
    </p:spTree>
    <p:extLst>
      <p:ext uri="{BB962C8B-B14F-4D97-AF65-F5344CB8AC3E}">
        <p14:creationId xmlns:p14="http://schemas.microsoft.com/office/powerpoint/2010/main" val="267416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3983-78D2-6461-A5BD-3E900891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Abadi" panose="020B0604020104020204" pitchFamily="34" charset="0"/>
              </a:rPr>
              <a:t>VAR Model Structure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61E658-6652-9663-88D2-6D163FD069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E9597-21F0-E4FF-8B57-7F85F00D0587}"/>
              </a:ext>
            </a:extLst>
          </p:cNvPr>
          <p:cNvSpPr txBox="1"/>
          <p:nvPr/>
        </p:nvSpPr>
        <p:spPr>
          <a:xfrm>
            <a:off x="1069383" y="2162014"/>
            <a:ext cx="670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83C5A-0693-AA82-225B-AEA31AC1DFB3}"/>
                  </a:ext>
                </a:extLst>
              </p:cNvPr>
              <p:cNvSpPr txBox="1"/>
              <p:nvPr/>
            </p:nvSpPr>
            <p:spPr>
              <a:xfrm>
                <a:off x="-131737" y="3410690"/>
                <a:ext cx="7431438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83C5A-0693-AA82-225B-AEA31AC1D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737" y="3410690"/>
                <a:ext cx="7431438" cy="837665"/>
              </a:xfrm>
              <a:prstGeom prst="rect">
                <a:avLst/>
              </a:prstGeom>
              <a:blipFill>
                <a:blip r:embed="rId2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2FD95AA-313C-7B0D-5547-722EE6460AB9}"/>
              </a:ext>
            </a:extLst>
          </p:cNvPr>
          <p:cNvSpPr txBox="1"/>
          <p:nvPr/>
        </p:nvSpPr>
        <p:spPr>
          <a:xfrm>
            <a:off x="969456" y="1127627"/>
            <a:ext cx="3022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Example: Bivariate Var(2)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C66CED-7654-B5B6-29A2-8967548ABFA7}"/>
                  </a:ext>
                </a:extLst>
              </p:cNvPr>
              <p:cNvSpPr txBox="1"/>
              <p:nvPr/>
            </p:nvSpPr>
            <p:spPr>
              <a:xfrm>
                <a:off x="969456" y="1596935"/>
                <a:ext cx="5229053" cy="7941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16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16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C66CED-7654-B5B6-29A2-8967548AB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56" y="1596935"/>
                <a:ext cx="5229053" cy="794192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5EDA329-D7F4-B73E-031A-03EE55C47C32}"/>
              </a:ext>
            </a:extLst>
          </p:cNvPr>
          <p:cNvSpPr txBox="1"/>
          <p:nvPr/>
        </p:nvSpPr>
        <p:spPr>
          <a:xfrm>
            <a:off x="891152" y="2685234"/>
            <a:ext cx="999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Or:</a:t>
            </a:r>
          </a:p>
        </p:txBody>
      </p:sp>
    </p:spTree>
    <p:extLst>
      <p:ext uri="{BB962C8B-B14F-4D97-AF65-F5344CB8AC3E}">
        <p14:creationId xmlns:p14="http://schemas.microsoft.com/office/powerpoint/2010/main" val="1183420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E66C-0683-EEAD-AFD7-DF08C9A5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Abadi" panose="020B0604020104020204" pitchFamily="34" charset="0"/>
              </a:rPr>
              <a:t>Assumptions of VAR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E7076-BE86-A8DB-4CC6-7729CCC0B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6046C-5561-6648-2355-732365042E0F}"/>
              </a:ext>
            </a:extLst>
          </p:cNvPr>
          <p:cNvSpPr txBox="1"/>
          <p:nvPr/>
        </p:nvSpPr>
        <p:spPr>
          <a:xfrm>
            <a:off x="822549" y="1503046"/>
            <a:ext cx="668065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Linearity</a:t>
            </a:r>
            <a:r>
              <a:rPr lang="en-IN" dirty="0">
                <a:latin typeface="Abadi" panose="020B0604020104020204" pitchFamily="34" charset="0"/>
              </a:rPr>
              <a:t>: Assumes linear relationships between variables.</a:t>
            </a:r>
          </a:p>
          <a:p>
            <a:pPr lvl="0">
              <a:tabLst>
                <a:tab pos="457200" algn="l"/>
              </a:tabLst>
            </a:pPr>
            <a:endParaRPr lang="en-IN" dirty="0">
              <a:latin typeface="Abadi" panose="020B0604020104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Stationarity</a:t>
            </a:r>
            <a:r>
              <a:rPr lang="en-IN" dirty="0">
                <a:latin typeface="Abadi" panose="020B0604020104020204" pitchFamily="34" charset="0"/>
              </a:rPr>
              <a:t>: Requires stable statistical properties over time.</a:t>
            </a:r>
          </a:p>
          <a:p>
            <a:pPr lvl="0">
              <a:tabLst>
                <a:tab pos="457200" algn="l"/>
              </a:tabLst>
            </a:pPr>
            <a:endParaRPr lang="en-IN" dirty="0">
              <a:latin typeface="Abadi" panose="020B0604020104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No Multicollinearity</a:t>
            </a:r>
            <a:r>
              <a:rPr lang="en-IN" dirty="0">
                <a:latin typeface="Abadi" panose="020B0604020104020204" pitchFamily="34" charset="0"/>
              </a:rPr>
              <a:t>: Variables shouldn't have perfect linear relationships.</a:t>
            </a:r>
          </a:p>
          <a:p>
            <a:pPr lvl="0">
              <a:tabLst>
                <a:tab pos="457200" algn="l"/>
              </a:tabLst>
            </a:pPr>
            <a:endParaRPr lang="en-IN" dirty="0">
              <a:latin typeface="Abadi" panose="020B0604020104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No Serial Correlation</a:t>
            </a:r>
            <a:r>
              <a:rPr lang="en-IN" dirty="0">
                <a:latin typeface="Abadi" panose="020B0604020104020204" pitchFamily="34" charset="0"/>
              </a:rPr>
              <a:t>: Errors at one time shouldn't depend on past errors.</a:t>
            </a:r>
          </a:p>
          <a:p>
            <a:pPr lvl="0">
              <a:tabLst>
                <a:tab pos="457200" algn="l"/>
              </a:tabLst>
            </a:pPr>
            <a:endParaRPr lang="en-IN" dirty="0">
              <a:latin typeface="Abadi" panose="020B0604020104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Homoscedasticity</a:t>
            </a:r>
            <a:r>
              <a:rPr lang="en-IN" dirty="0">
                <a:latin typeface="Abadi" panose="020B0604020104020204" pitchFamily="34" charset="0"/>
              </a:rPr>
              <a:t>: Assumes constant error variance over time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90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3983-78D2-6461-A5BD-3E900891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42475"/>
            <a:ext cx="7704000" cy="572700"/>
          </a:xfrm>
        </p:spPr>
        <p:txBody>
          <a:bodyPr/>
          <a:lstStyle/>
          <a:p>
            <a:r>
              <a:rPr lang="en-IN" b="1" i="0" dirty="0">
                <a:effectLst/>
                <a:latin typeface="Abadi" panose="020B0604020104020204" pitchFamily="34" charset="0"/>
              </a:rPr>
              <a:t>Application of VAR Model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61E658-6652-9663-88D2-6D163FD069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E9597-21F0-E4FF-8B57-7F85F00D0587}"/>
              </a:ext>
            </a:extLst>
          </p:cNvPr>
          <p:cNvSpPr txBox="1"/>
          <p:nvPr/>
        </p:nvSpPr>
        <p:spPr>
          <a:xfrm>
            <a:off x="1069383" y="2162014"/>
            <a:ext cx="670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C06D16-79FA-68F3-D287-8722DDA1E80D}"/>
              </a:ext>
            </a:extLst>
          </p:cNvPr>
          <p:cNvSpPr txBox="1"/>
          <p:nvPr/>
        </p:nvSpPr>
        <p:spPr>
          <a:xfrm>
            <a:off x="871671" y="1203960"/>
            <a:ext cx="72029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Economics and Finance:</a:t>
            </a:r>
          </a:p>
          <a:p>
            <a:pPr marL="800100" indent="-34290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VAR models used in macroeconomics to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analyze</a:t>
            </a: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the interdependencies between economic variables such as GDP, inflation, interest rates etc</a:t>
            </a:r>
            <a:r>
              <a:rPr lang="en-IN" b="0" i="0" dirty="0">
                <a:solidFill>
                  <a:schemeClr val="tx1"/>
                </a:solidFill>
                <a:effectLst/>
                <a:latin typeface="Söhne"/>
              </a:rPr>
              <a:t>.</a:t>
            </a:r>
          </a:p>
          <a:p>
            <a:pPr marL="800100" indent="-34290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IN" b="1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>
                <a:latin typeface="Abadi" panose="020B0604020104020204" pitchFamily="34" charset="0"/>
              </a:rPr>
              <a:t>Healthcare:</a:t>
            </a:r>
          </a:p>
          <a:p>
            <a:pPr marL="800100" indent="-34290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dirty="0">
                <a:latin typeface="Abadi" panose="020B0604020104020204" pitchFamily="34" charset="0"/>
              </a:rPr>
              <a:t>To </a:t>
            </a:r>
            <a:r>
              <a:rPr lang="en-IN" dirty="0" err="1">
                <a:latin typeface="Abadi" panose="020B0604020104020204" pitchFamily="34" charset="0"/>
              </a:rPr>
              <a:t>analyze</a:t>
            </a:r>
            <a:r>
              <a:rPr lang="en-IN" dirty="0">
                <a:latin typeface="Abadi" panose="020B0604020104020204" pitchFamily="34" charset="0"/>
              </a:rPr>
              <a:t> and forecast the spread of diseases, especially during pandemics, by considering factors like infection rates, public health interventions, and healthcare resource utilization.</a:t>
            </a:r>
          </a:p>
          <a:p>
            <a:pPr marL="800100" indent="-34290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IN" b="1" dirty="0">
              <a:latin typeface="Abadi" panose="020B06040201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b="1" dirty="0" err="1">
                <a:latin typeface="Abadi" panose="020B0604020104020204" pitchFamily="34" charset="0"/>
              </a:rPr>
              <a:t>Enviromental</a:t>
            </a:r>
            <a:r>
              <a:rPr lang="en-IN" b="1" dirty="0">
                <a:latin typeface="Abadi" panose="020B0604020104020204" pitchFamily="34" charset="0"/>
              </a:rPr>
              <a:t> Science :</a:t>
            </a:r>
          </a:p>
          <a:p>
            <a:pPr marL="800100" indent="-34290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dirty="0">
                <a:latin typeface="Abadi" panose="020B0604020104020204" pitchFamily="34" charset="0"/>
              </a:rPr>
              <a:t>Climate </a:t>
            </a:r>
            <a:r>
              <a:rPr lang="en-IN" dirty="0" err="1">
                <a:latin typeface="Abadi" panose="020B0604020104020204" pitchFamily="34" charset="0"/>
              </a:rPr>
              <a:t>Modeling</a:t>
            </a:r>
            <a:r>
              <a:rPr lang="en-IN" dirty="0">
                <a:latin typeface="Abadi" panose="020B0604020104020204" pitchFamily="34" charset="0"/>
              </a:rPr>
              <a:t>: To understand and forecast complex interactions among climate variables, such as temperature, precipitation, and atmospheric pressure.</a:t>
            </a:r>
          </a:p>
          <a:p>
            <a:pPr marL="457200">
              <a:buSzPts val="1000"/>
              <a:tabLst>
                <a:tab pos="457200" algn="l"/>
              </a:tabLst>
            </a:pPr>
            <a:endParaRPr lang="en-IN" dirty="0">
              <a:latin typeface="Abadi" panose="020B0604020104020204" pitchFamily="34" charset="0"/>
            </a:endParaRPr>
          </a:p>
          <a:p>
            <a:pPr marL="28575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latin typeface="Abadi" panose="020B0604020104020204" pitchFamily="34" charset="0"/>
              </a:rPr>
              <a:t>Supply Chain Management: </a:t>
            </a:r>
          </a:p>
          <a:p>
            <a:pPr marL="800100" indent="-34290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Abadi" panose="020B0604020104020204" pitchFamily="34" charset="0"/>
              </a:rPr>
              <a:t>To forecast demand, optimize inventory levels, and improve supply chain efficiency by considering variables like production, orders, and lead times etc.</a:t>
            </a:r>
          </a:p>
        </p:txBody>
      </p:sp>
    </p:spTree>
    <p:extLst>
      <p:ext uri="{BB962C8B-B14F-4D97-AF65-F5344CB8AC3E}">
        <p14:creationId xmlns:p14="http://schemas.microsoft.com/office/powerpoint/2010/main" val="20108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4A9C9-0A8C-76F9-3DEA-7BFDA2F1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24672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Example: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sz="1600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B374B0-CB7A-12D0-1811-5041030FA5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5104-6A87-CF64-0C2A-462470C45BD9}"/>
              </a:ext>
            </a:extLst>
          </p:cNvPr>
          <p:cNvSpPr txBox="1"/>
          <p:nvPr/>
        </p:nvSpPr>
        <p:spPr>
          <a:xfrm>
            <a:off x="2503918" y="250391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4A8C8-76FF-1702-7F6E-15A7A82A0C74}"/>
              </a:ext>
            </a:extLst>
          </p:cNvPr>
          <p:cNvSpPr txBox="1"/>
          <p:nvPr/>
        </p:nvSpPr>
        <p:spPr>
          <a:xfrm>
            <a:off x="1204957" y="7434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E65B3F8-6B8B-7E5C-CEBD-77BDF197D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17879"/>
              </p:ext>
            </p:extLst>
          </p:nvPr>
        </p:nvGraphicFramePr>
        <p:xfrm>
          <a:off x="846034" y="1746930"/>
          <a:ext cx="6913548" cy="2966720"/>
        </p:xfrm>
        <a:graphic>
          <a:graphicData uri="http://schemas.openxmlformats.org/drawingml/2006/table">
            <a:tbl>
              <a:tblPr firstRow="1" bandRow="1">
                <a:tableStyleId>{F8033A30-AE2F-4520-BF7A-3F1BC4AB6106}</a:tableStyleId>
              </a:tblPr>
              <a:tblGrid>
                <a:gridCol w="752980">
                  <a:extLst>
                    <a:ext uri="{9D8B030D-6E8A-4147-A177-3AD203B41FA5}">
                      <a16:colId xmlns:a16="http://schemas.microsoft.com/office/drawing/2014/main" val="1545903612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627538370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3080886008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3455237014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2533913965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103322601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4172390248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1225121089"/>
                    </a:ext>
                  </a:extLst>
                </a:gridCol>
                <a:gridCol w="770071">
                  <a:extLst>
                    <a:ext uri="{9D8B030D-6E8A-4147-A177-3AD203B41FA5}">
                      <a16:colId xmlns:a16="http://schemas.microsoft.com/office/drawing/2014/main" val="3094092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date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rgnp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pgnp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ulc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gdfco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gdf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gdfim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gdfcf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gdfce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8258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01/01/59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1606.4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1608.3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36.9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26.9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4992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01/04/59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1622.2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8897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01/07/59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1629.5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1636.2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48.7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833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01/10/59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1643.4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1650.3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48.8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818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01/01/60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1671.6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1664.6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49.1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37.8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598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01/04/60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1666.8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1679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49.6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426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01/07/60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1668.4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1693.5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38.1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38.1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32.9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24.1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66501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D9CCB22-4FCE-DDA8-9EAE-D72E92682E7F}"/>
              </a:ext>
            </a:extLst>
          </p:cNvPr>
          <p:cNvSpPr txBox="1"/>
          <p:nvPr/>
        </p:nvSpPr>
        <p:spPr>
          <a:xfrm>
            <a:off x="720000" y="1051261"/>
            <a:ext cx="712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badi" panose="020B0604020104020204" pitchFamily="34" charset="0"/>
              </a:rPr>
              <a:t>We have a </a:t>
            </a: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Quarterly Economic Indicators Dataset</a:t>
            </a:r>
            <a:r>
              <a:rPr lang="en-IN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r>
              <a:rPr lang="en-US" sz="1400" dirty="0">
                <a:latin typeface="Abadi" panose="020B0604020104020204" pitchFamily="34" charset="0"/>
              </a:rPr>
              <a:t> In which we are considering the ‘Real Gross National Product(</a:t>
            </a:r>
            <a:r>
              <a:rPr lang="en-US" sz="1400" dirty="0" err="1">
                <a:latin typeface="Abadi" panose="020B0604020104020204" pitchFamily="34" charset="0"/>
              </a:rPr>
              <a:t>rgnp</a:t>
            </a:r>
            <a:r>
              <a:rPr lang="en-US" sz="1400" dirty="0">
                <a:latin typeface="Abadi" panose="020B0604020104020204" pitchFamily="34" charset="0"/>
              </a:rPr>
              <a:t>)’ and ‘Unit </a:t>
            </a:r>
            <a:r>
              <a:rPr lang="en-US" sz="1400" dirty="0" err="1">
                <a:latin typeface="Abadi" panose="020B0604020104020204" pitchFamily="34" charset="0"/>
              </a:rPr>
              <a:t>Labour</a:t>
            </a:r>
            <a:r>
              <a:rPr lang="en-US" sz="1400" dirty="0">
                <a:latin typeface="Abadi" panose="020B0604020104020204" pitchFamily="34" charset="0"/>
              </a:rPr>
              <a:t> Cost(</a:t>
            </a:r>
            <a:r>
              <a:rPr lang="en-US" sz="1400" dirty="0" err="1">
                <a:latin typeface="Abadi" panose="020B0604020104020204" pitchFamily="34" charset="0"/>
              </a:rPr>
              <a:t>ulc</a:t>
            </a:r>
            <a:r>
              <a:rPr lang="en-US" sz="1400" dirty="0">
                <a:latin typeface="Abadi" panose="020B0604020104020204" pitchFamily="34" charset="0"/>
              </a:rPr>
              <a:t>)’ for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0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1"/>
          <p:cNvSpPr txBox="1">
            <a:spLocks noGrp="1"/>
          </p:cNvSpPr>
          <p:nvPr>
            <p:ph type="sldNum" idx="12"/>
          </p:nvPr>
        </p:nvSpPr>
        <p:spPr>
          <a:xfrm>
            <a:off x="8544475" y="4713650"/>
            <a:ext cx="450600" cy="30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602D08-08A9-ACC7-3A79-4E447CF9B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0" y="1076866"/>
            <a:ext cx="4089511" cy="3194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3D7E3-80E7-52E8-ECEF-EFD9E0AF6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630" y="1076865"/>
            <a:ext cx="4486542" cy="31948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C2AEAF-3C6C-BC8E-F1A3-014C7BD4A702}"/>
              </a:ext>
            </a:extLst>
          </p:cNvPr>
          <p:cNvSpPr txBox="1"/>
          <p:nvPr/>
        </p:nvSpPr>
        <p:spPr>
          <a:xfrm>
            <a:off x="333286" y="168239"/>
            <a:ext cx="7639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badi" panose="020B0604020104020204" pitchFamily="34" charset="0"/>
              </a:rPr>
              <a:t>Time Series Plot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0788-79DA-1913-A2BB-AF44596E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2834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ACF and PACF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D1447-B6F4-EE93-C442-6AB6A3E9B3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7655D-75CF-46BA-CC33-E6B1663A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98" y="1130588"/>
            <a:ext cx="7041734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7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C520-4A42-82E7-7EC6-936FE5EF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02296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Stationarity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769898-AEA5-664C-79B1-CEB13FC15D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82074-6EC8-B7A6-091E-DD617D00821D}"/>
              </a:ext>
            </a:extLst>
          </p:cNvPr>
          <p:cNvSpPr txBox="1"/>
          <p:nvPr/>
        </p:nvSpPr>
        <p:spPr>
          <a:xfrm>
            <a:off x="914399" y="1281870"/>
            <a:ext cx="66400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Augmented Dickey-Fuller Test</a:t>
            </a:r>
          </a:p>
          <a:p>
            <a:r>
              <a:rPr lang="en-US" dirty="0">
                <a:latin typeface="Abadi" panose="020B0604020104020204" pitchFamily="34" charset="0"/>
              </a:rPr>
              <a:t>H0: Time Series is not stationary   versus  H1: Time series is stationary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For Real Gross National Product :</a:t>
            </a:r>
          </a:p>
          <a:p>
            <a:r>
              <a:rPr lang="en-US" dirty="0">
                <a:latin typeface="Abadi" panose="020B0604020104020204" pitchFamily="34" charset="0"/>
              </a:rPr>
              <a:t>    data:  </a:t>
            </a:r>
            <a:r>
              <a:rPr lang="en-US" dirty="0" err="1">
                <a:latin typeface="Abadi" panose="020B0604020104020204" pitchFamily="34" charset="0"/>
              </a:rPr>
              <a:t>data$rgnp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    Dickey-Fuller = -2.2621, Lag order = 4,</a:t>
            </a:r>
          </a:p>
          <a:p>
            <a:r>
              <a:rPr lang="en-US" dirty="0">
                <a:latin typeface="Abadi" panose="020B0604020104020204" pitchFamily="34" charset="0"/>
              </a:rPr>
              <a:t>    p-value = 0.4677</a:t>
            </a:r>
          </a:p>
          <a:p>
            <a:r>
              <a:rPr lang="en-US" dirty="0">
                <a:latin typeface="Abadi" panose="020B0604020104020204" pitchFamily="34" charset="0"/>
              </a:rPr>
              <a:t>    alternative hypothesis: stationary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For Unit </a:t>
            </a:r>
            <a:r>
              <a:rPr lang="en-US" dirty="0" err="1">
                <a:latin typeface="Abadi" panose="020B0604020104020204" pitchFamily="34" charset="0"/>
              </a:rPr>
              <a:t>Labour</a:t>
            </a:r>
            <a:r>
              <a:rPr lang="en-US" dirty="0">
                <a:latin typeface="Abadi" panose="020B0604020104020204" pitchFamily="34" charset="0"/>
              </a:rPr>
              <a:t> Cost: </a:t>
            </a:r>
          </a:p>
          <a:p>
            <a:r>
              <a:rPr lang="en-US" dirty="0">
                <a:latin typeface="Abadi" panose="020B0604020104020204" pitchFamily="34" charset="0"/>
              </a:rPr>
              <a:t>    data:  </a:t>
            </a:r>
            <a:r>
              <a:rPr lang="en-US" dirty="0" err="1">
                <a:latin typeface="Abadi" panose="020B0604020104020204" pitchFamily="34" charset="0"/>
              </a:rPr>
              <a:t>data$ulc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    Dickey-Fuller = -2.2364, Lag order = 4, p-value = 0.4784</a:t>
            </a:r>
          </a:p>
          <a:p>
            <a:r>
              <a:rPr lang="en-US" dirty="0">
                <a:latin typeface="Abadi" panose="020B0604020104020204" pitchFamily="34" charset="0"/>
              </a:rPr>
              <a:t>    alternative hypothesis: stationary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As both the p-value is </a:t>
            </a:r>
            <a:r>
              <a:rPr lang="en-US" dirty="0" err="1">
                <a:latin typeface="Abadi" panose="020B0604020104020204" pitchFamily="34" charset="0"/>
              </a:rPr>
              <a:t>greather</a:t>
            </a:r>
            <a:r>
              <a:rPr lang="en-US" dirty="0">
                <a:latin typeface="Abadi" panose="020B0604020104020204" pitchFamily="34" charset="0"/>
              </a:rPr>
              <a:t> than 0.05 therefore time series is not stationary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38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86EC-7660-B119-DD61-CBB95218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88" y="197197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Granger causality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E9F2CA-CEEF-3705-40F7-5EE1D2206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6113E-D044-4B84-E7A1-D5B23C1FAD39}"/>
              </a:ext>
            </a:extLst>
          </p:cNvPr>
          <p:cNvSpPr txBox="1"/>
          <p:nvPr/>
        </p:nvSpPr>
        <p:spPr>
          <a:xfrm>
            <a:off x="460430" y="1744493"/>
            <a:ext cx="770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H0: </a:t>
            </a:r>
            <a:r>
              <a:rPr lang="en-US" dirty="0" err="1">
                <a:latin typeface="Abadi" panose="020B0604020104020204" pitchFamily="34" charset="0"/>
              </a:rPr>
              <a:t>rgnp</a:t>
            </a:r>
            <a:r>
              <a:rPr lang="en-US" dirty="0">
                <a:latin typeface="Abadi" panose="020B0604020104020204" pitchFamily="34" charset="0"/>
              </a:rPr>
              <a:t> does not Granger cause </a:t>
            </a:r>
            <a:r>
              <a:rPr lang="en-US" dirty="0" err="1">
                <a:latin typeface="Abadi" panose="020B0604020104020204" pitchFamily="34" charset="0"/>
              </a:rPr>
              <a:t>ulc</a:t>
            </a:r>
            <a:r>
              <a:rPr lang="en-US" dirty="0">
                <a:latin typeface="Abadi" panose="020B0604020104020204" pitchFamily="34" charset="0"/>
              </a:rPr>
              <a:t>.                  H0: </a:t>
            </a:r>
            <a:r>
              <a:rPr lang="en-US" dirty="0" err="1">
                <a:latin typeface="Abadi" panose="020B0604020104020204" pitchFamily="34" charset="0"/>
              </a:rPr>
              <a:t>ulc</a:t>
            </a:r>
            <a:r>
              <a:rPr lang="en-US" dirty="0">
                <a:latin typeface="Abadi" panose="020B0604020104020204" pitchFamily="34" charset="0"/>
              </a:rPr>
              <a:t> does not Granger cause </a:t>
            </a:r>
            <a:r>
              <a:rPr lang="en-US" dirty="0" err="1">
                <a:latin typeface="Abadi" panose="020B0604020104020204" pitchFamily="34" charset="0"/>
              </a:rPr>
              <a:t>rgnp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Vs  H1:rgnp Granger cause </a:t>
            </a:r>
            <a:r>
              <a:rPr lang="en-US" dirty="0" err="1">
                <a:latin typeface="Abadi" panose="020B0604020104020204" pitchFamily="34" charset="0"/>
              </a:rPr>
              <a:t>ulc</a:t>
            </a:r>
            <a:r>
              <a:rPr lang="en-US" dirty="0">
                <a:latin typeface="Abadi" panose="020B0604020104020204" pitchFamily="34" charset="0"/>
              </a:rPr>
              <a:t>                            Vs H1: </a:t>
            </a:r>
            <a:r>
              <a:rPr lang="en-US" dirty="0" err="1">
                <a:latin typeface="Abadi" panose="020B0604020104020204" pitchFamily="34" charset="0"/>
              </a:rPr>
              <a:t>ulc</a:t>
            </a:r>
            <a:r>
              <a:rPr lang="en-US" dirty="0">
                <a:latin typeface="Abadi" panose="020B0604020104020204" pitchFamily="34" charset="0"/>
              </a:rPr>
              <a:t> Granger cause </a:t>
            </a:r>
            <a:r>
              <a:rPr lang="en-US" dirty="0" err="1">
                <a:latin typeface="Abadi" panose="020B0604020104020204" pitchFamily="34" charset="0"/>
              </a:rPr>
              <a:t>rgnp</a:t>
            </a:r>
            <a:r>
              <a:rPr lang="en-US" dirty="0">
                <a:latin typeface="Abadi" panose="020B0604020104020204" pitchFamily="34" charset="0"/>
              </a:rPr>
              <a:t> 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6D70B-9144-2490-6B76-77754556FBA4}"/>
              </a:ext>
            </a:extLst>
          </p:cNvPr>
          <p:cNvSpPr txBox="1"/>
          <p:nvPr/>
        </p:nvSpPr>
        <p:spPr>
          <a:xfrm>
            <a:off x="460430" y="1005135"/>
            <a:ext cx="757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The Granger causality test is a statistical hypothesis test used to determine whether one time series can predict another time series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591E-FECE-A6DB-0279-ED027B4D072E}"/>
              </a:ext>
            </a:extLst>
          </p:cNvPr>
          <p:cNvSpPr txBox="1"/>
          <p:nvPr/>
        </p:nvSpPr>
        <p:spPr>
          <a:xfrm>
            <a:off x="460430" y="3974986"/>
            <a:ext cx="71848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Conclusion: In the both cases the p-value is less than 0.05. therefore we are rejecting null hypothesis and concluding that both </a:t>
            </a:r>
            <a:r>
              <a:rPr lang="en-US" dirty="0" err="1">
                <a:latin typeface="Abadi" panose="020B0604020104020204" pitchFamily="34" charset="0"/>
              </a:rPr>
              <a:t>rgnp</a:t>
            </a:r>
            <a:r>
              <a:rPr lang="en-US" dirty="0">
                <a:latin typeface="Abadi" panose="020B0604020104020204" pitchFamily="34" charset="0"/>
              </a:rPr>
              <a:t> and </a:t>
            </a:r>
            <a:r>
              <a:rPr lang="en-US" dirty="0" err="1">
                <a:latin typeface="Abadi" panose="020B0604020104020204" pitchFamily="34" charset="0"/>
              </a:rPr>
              <a:t>ulc</a:t>
            </a:r>
            <a:r>
              <a:rPr lang="en-US" dirty="0">
                <a:latin typeface="Abadi" panose="020B0604020104020204" pitchFamily="34" charset="0"/>
              </a:rPr>
              <a:t> dependent on each other and help to predict the values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02354-CB59-3D87-0531-5FAF0F8C4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430" y="2653710"/>
            <a:ext cx="3721100" cy="88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12CE04-837E-EEA6-B7CA-9848351108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9" t="-1958" r="10983" b="16592"/>
          <a:stretch/>
        </p:blipFill>
        <p:spPr>
          <a:xfrm>
            <a:off x="437022" y="2660344"/>
            <a:ext cx="37211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9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F21E-4D25-B991-7B6F-6F311741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88" y="445025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Order Selection and Model Building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D7126-2BC3-61FC-11AF-B2E2727FFF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FE8A3-1FC3-6ABF-14A0-ED8C2C3A8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18" y="1146264"/>
            <a:ext cx="6870818" cy="1425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20EC8-995D-3DA3-C86E-E67A314AD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7"/>
          <a:stretch/>
        </p:blipFill>
        <p:spPr>
          <a:xfrm>
            <a:off x="803305" y="3235899"/>
            <a:ext cx="6947731" cy="1190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5E64C-9B17-ABCD-7AED-C0A8EEC7B322}"/>
              </a:ext>
            </a:extLst>
          </p:cNvPr>
          <p:cNvSpPr txBox="1"/>
          <p:nvPr/>
        </p:nvSpPr>
        <p:spPr>
          <a:xfrm>
            <a:off x="880218" y="2700289"/>
            <a:ext cx="668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AIC value = 5.87700 which is minimum among all the values for the lag 4   </a:t>
            </a:r>
          </a:p>
        </p:txBody>
      </p:sp>
    </p:spTree>
    <p:extLst>
      <p:ext uri="{BB962C8B-B14F-4D97-AF65-F5344CB8AC3E}">
        <p14:creationId xmlns:p14="http://schemas.microsoft.com/office/powerpoint/2010/main" val="212317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86EC-7660-B119-DD61-CBB95218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88" y="197197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E9F2CA-CEEF-3705-40F7-5EE1D2206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8B7B7-8D16-8678-2A13-8556C7F4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35" y="1008837"/>
            <a:ext cx="7772400" cy="386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82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86EC-7660-B119-DD61-CBB95218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88" y="197197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Forecast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E9F2CA-CEEF-3705-40F7-5EE1D2206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1E57E-B098-ED16-3BFD-AA052EE31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54" y="1284486"/>
            <a:ext cx="6716993" cy="3581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68C2A-797B-4D7E-7D24-5D154B1205E7}"/>
              </a:ext>
            </a:extLst>
          </p:cNvPr>
          <p:cNvSpPr txBox="1"/>
          <p:nvPr/>
        </p:nvSpPr>
        <p:spPr>
          <a:xfrm>
            <a:off x="1076769" y="873303"/>
            <a:ext cx="6546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Forecast for next 6 years (24 values)</a:t>
            </a:r>
          </a:p>
        </p:txBody>
      </p:sp>
    </p:spTree>
    <p:extLst>
      <p:ext uri="{BB962C8B-B14F-4D97-AF65-F5344CB8AC3E}">
        <p14:creationId xmlns:p14="http://schemas.microsoft.com/office/powerpoint/2010/main" val="303567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86EC-7660-B119-DD61-CBB95218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88" y="197197"/>
            <a:ext cx="7704000" cy="572700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Conclusion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E9F2CA-CEEF-3705-40F7-5EE1D2206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EC1D1-E6E9-8DE7-71AB-23B093D25CDE}"/>
              </a:ext>
            </a:extLst>
          </p:cNvPr>
          <p:cNvSpPr txBox="1"/>
          <p:nvPr/>
        </p:nvSpPr>
        <p:spPr>
          <a:xfrm>
            <a:off x="643088" y="1320799"/>
            <a:ext cx="7239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Vector autoregression (VAR) is a powerful tool for forecasting and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analyzing</a:t>
            </a: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multivariate time series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badi" panose="020B0604020104020204" pitchFamily="34" charset="0"/>
              </a:rPr>
              <a:t>I</a:t>
            </a: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 can be used to model both stationary and non-stationary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badi" panose="020B0604020104020204" pitchFamily="34" charset="0"/>
              </a:rPr>
              <a:t>S</a:t>
            </a: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imulate the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behavior</a:t>
            </a: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of systems under different conditions. </a:t>
            </a:r>
          </a:p>
          <a:p>
            <a:endParaRPr 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344B2-C9C9-58C9-9D3B-BF292B6F300D}"/>
              </a:ext>
            </a:extLst>
          </p:cNvPr>
          <p:cNvSpPr txBox="1"/>
          <p:nvPr/>
        </p:nvSpPr>
        <p:spPr>
          <a:xfrm>
            <a:off x="643088" y="2609371"/>
            <a:ext cx="3708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Limitations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FF060-A4D8-2548-5EF5-D124B27DDFB6}"/>
              </a:ext>
            </a:extLst>
          </p:cNvPr>
          <p:cNvSpPr txBox="1"/>
          <p:nvPr/>
        </p:nvSpPr>
        <p:spPr>
          <a:xfrm>
            <a:off x="643088" y="3508983"/>
            <a:ext cx="6870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VAR models are not well-suited for long-term forecasting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They may also suffer from the curse of dimensionality when dealing with a large number of variables.</a:t>
            </a:r>
            <a:endParaRPr 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34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ctrTitle"/>
          </p:nvPr>
        </p:nvSpPr>
        <p:spPr>
          <a:xfrm>
            <a:off x="713075" y="1130967"/>
            <a:ext cx="4762500" cy="25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cxnSp>
        <p:nvCxnSpPr>
          <p:cNvPr id="183" name="Google Shape;183;p32"/>
          <p:cNvCxnSpPr/>
          <p:nvPr/>
        </p:nvCxnSpPr>
        <p:spPr>
          <a:xfrm>
            <a:off x="6166200" y="3486375"/>
            <a:ext cx="0" cy="170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2488491"/>
      </p:ext>
    </p:extLst>
  </p:cSld>
  <p:clrMapOvr>
    <a:masterClrMapping/>
  </p:clrMapOvr>
</p:sld>
</file>

<file path=ppt/theme/theme1.xml><?xml version="1.0" encoding="utf-8"?>
<a:theme xmlns:a="http://schemas.openxmlformats.org/drawingml/2006/main" name="Managing Deviant Behavior in the Workplace by Slidesgo">
  <a:themeElements>
    <a:clrScheme name="Simple Light">
      <a:dk1>
        <a:srgbClr val="332F2E"/>
      </a:dk1>
      <a:lt1>
        <a:srgbClr val="EBE9E7"/>
      </a:lt1>
      <a:dk2>
        <a:srgbClr val="FFFFFF"/>
      </a:dk2>
      <a:lt2>
        <a:srgbClr val="F45126"/>
      </a:lt2>
      <a:accent1>
        <a:srgbClr val="FFFFFF"/>
      </a:accent1>
      <a:accent2>
        <a:srgbClr val="F5F5F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2F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868</Words>
  <Application>Microsoft Macintosh PowerPoint</Application>
  <PresentationFormat>On-screen Show (16:9)</PresentationFormat>
  <Paragraphs>192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Cambria Math</vt:lpstr>
      <vt:lpstr>Söhne</vt:lpstr>
      <vt:lpstr>Calibri</vt:lpstr>
      <vt:lpstr>Raleway</vt:lpstr>
      <vt:lpstr>Oswald</vt:lpstr>
      <vt:lpstr>Arial</vt:lpstr>
      <vt:lpstr>Abadi</vt:lpstr>
      <vt:lpstr>Helvetica</vt:lpstr>
      <vt:lpstr>Assistant</vt:lpstr>
      <vt:lpstr>Managing Deviant Behavior in the Workplace by Slidesgo</vt:lpstr>
      <vt:lpstr>Vector Auto Regression</vt:lpstr>
      <vt:lpstr>What is Vector Auto Regression?</vt:lpstr>
      <vt:lpstr>VAR Model Structure</vt:lpstr>
      <vt:lpstr>VAR Model Structure</vt:lpstr>
      <vt:lpstr>Assumptions of VAR</vt:lpstr>
      <vt:lpstr>Application of VAR Model</vt:lpstr>
      <vt:lpstr>Example:     </vt:lpstr>
      <vt:lpstr>PowerPoint Presentation</vt:lpstr>
      <vt:lpstr>ACF and PACF Plot</vt:lpstr>
      <vt:lpstr>Stationarity </vt:lpstr>
      <vt:lpstr>Granger causality Test</vt:lpstr>
      <vt:lpstr>Order Selection and Model Building</vt:lpstr>
      <vt:lpstr>Output</vt:lpstr>
      <vt:lpstr>Forecast </vt:lpstr>
      <vt:lpstr>Conclusion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Auto Regression</dc:title>
  <cp:lastModifiedBy>ROHIT FUKE - 86062200035</cp:lastModifiedBy>
  <cp:revision>43</cp:revision>
  <dcterms:modified xsi:type="dcterms:W3CDTF">2023-10-31T18:55:39Z</dcterms:modified>
</cp:coreProperties>
</file>