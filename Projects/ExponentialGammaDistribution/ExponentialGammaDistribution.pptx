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384" r:id="rId4"/>
    <p:sldId id="278" r:id="rId5"/>
    <p:sldId id="257" r:id="rId6"/>
    <p:sldId id="268" r:id="rId7"/>
    <p:sldId id="269" r:id="rId8"/>
    <p:sldId id="270" r:id="rId9"/>
    <p:sldId id="379" r:id="rId10"/>
    <p:sldId id="380" r:id="rId11"/>
    <p:sldId id="381" r:id="rId12"/>
    <p:sldId id="376" r:id="rId13"/>
    <p:sldId id="378" r:id="rId14"/>
    <p:sldId id="273" r:id="rId15"/>
    <p:sldId id="377" r:id="rId16"/>
    <p:sldId id="383" r:id="rId17"/>
    <p:sldId id="275" r:id="rId18"/>
    <p:sldId id="276" r:id="rId19"/>
    <p:sldId id="277" r:id="rId20"/>
    <p:sldId id="280" r:id="rId21"/>
    <p:sldId id="3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753349-B35E-3C49-2CDC-82EF717052F5}" name="Angela Sarah Job" initials="ASJ" userId="8358ee830dfd14f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980EF-C056-4D05-80C5-9BA7C7C2DC68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152ED-BF0C-4011-B1B4-D95AB4F05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0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52ED-BF0C-4011-B1B4-D95AB4F05B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5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91EF-363A-17D1-4A05-75DA52AB0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8530D-1249-0D24-E582-5AE6115FE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9E5C3-9A87-4E1B-83C4-760C2DA1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F46E6-F55A-E976-4066-34FFA4E9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1CA94-FE69-60E5-8801-823BE92E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3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C085-6869-8410-A4F4-342F3A30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7E01C-0D37-197A-77E7-EA4B997E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12E6-C9BB-137D-1C3B-12210FDF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C895-1A50-39F1-7396-AB8F9527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8E4E7-885B-59C0-3782-DA5A52F8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6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8CB7-457D-EFB3-5396-B9302434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5FD41-93D7-7635-1D7E-99A70D6E9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73F0E-03F3-BAC7-F099-9D3B0B6C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B2089-FA8B-1BE1-BB7F-85CB80C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D6C6-731A-0375-3FEB-C486E729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8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4CDC-FFBC-C7C8-9901-1D8F52FD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C9457-4CE4-E896-FA88-FCCBD48D6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73B1F-57E9-750A-6107-54ACB794F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3133F-9EB7-F867-10AC-13556642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11702-42B4-FB30-6020-27D716ED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DD364-C5E7-7C0B-E62F-13910897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E0E8-C911-D3A4-8A2D-1CF0FE46E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272A4-CC88-025F-A50C-3C3051195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5C3E2-675B-236B-C391-95FDDEB1D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43494-ED19-AAB1-1696-A24133EFE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3AF2E-BD72-2694-F39C-FBEEF389E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CC936-82F9-296E-3A93-56E9041D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9D51D-36FF-A6A0-1DBB-1A8F4C82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F30C0-1060-1A6C-D6C4-2C9C5F7B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7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DA0A-D199-3DD5-7D45-08CDBA38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0C317-DD20-B3B3-6A35-2B72069F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30F6-F1B0-7B34-AF36-97C9CF1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EC2ED-C072-9FCC-724B-18D2D5B3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9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53CF1-399C-3400-7066-C77F3508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B5BE5-DDF8-C5E9-B4F5-2184871A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E6C0D-A7E0-E7DF-DBEC-24B5AEBA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0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E64A-DF5B-CB53-C8F9-EA02D089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A6E4-F3D6-B3DC-DAB0-A80B6F5CB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D16AC-AAF8-1ED1-7CD7-D446503E5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E7E3C-FEA1-3F9C-6DFA-32BDA5CC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AB37C-219A-3F0F-1EE8-37760C08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AEB4B-AB42-EEF7-C43B-4134473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4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59D0-12D1-ACC5-BCB2-5C56BBA6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7E5CE-27DC-797F-2C0B-A1B26AD9D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E2653-41B4-C8D0-BF4F-9151837ED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5686A-6B4B-6DF0-9A4E-0927A3BD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3D050-C2FF-83B7-C177-FFCF8651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FE4AC-5102-4C4E-6A87-1820ADF9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31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F5B4-C7DB-FF85-022E-B6294085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4B49C-BA8B-3DD6-85FE-8CE456BD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3F1CF-A5E8-985E-2EDD-BCABA96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D0AA-4245-5F58-DBF3-3A039698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4E382-FE27-1A64-0622-47C723CA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C44BF-47AA-DB62-CA93-31BDE0693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4E891-C4E3-D623-E386-5311A8961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9B867-9A56-F24B-42AC-57217640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134A1-130F-0952-BB9D-6CC50123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5285-9AF8-BF94-DC80-3E1B859B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6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2AEF7-EFEA-B446-4409-E15056A4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BC839-FCD8-38B8-6C3D-A24AD77E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F2301-1C27-3F33-95DB-EB1D83BFD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07190-EE79-40A3-80FA-CD3163B835F6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C8865-9CB4-5D98-2EC4-71398B922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CD3C8-5FB1-CF1B-A674-B03F9E4B5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2A3A5-A455-4F32-BEEF-F698B7AD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%E2%80%93P_plot" TargetMode="External"/><Relationship Id="rId3" Type="http://schemas.openxmlformats.org/officeDocument/2006/relationships/hyperlink" Target="https://www.researchgate.net/publication/358743397" TargetMode="External"/><Relationship Id="rId7" Type="http://schemas.openxmlformats.org/officeDocument/2006/relationships/hyperlink" Target="https://en.wikipedia.org/wiki/Bayesian_information_criterion" TargetMode="External"/><Relationship Id="rId2" Type="http://schemas.openxmlformats.org/officeDocument/2006/relationships/hyperlink" Target="https://digitalcommons.wayne.edu/cgi/viewcontent.cgi?article=1916&amp;context=jmas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Akaike_information_criterion" TargetMode="External"/><Relationship Id="rId5" Type="http://schemas.openxmlformats.org/officeDocument/2006/relationships/hyperlink" Target="https://www.statisticshowto.com/kolmogorov-smirnov-test/" TargetMode="External"/><Relationship Id="rId4" Type="http://schemas.openxmlformats.org/officeDocument/2006/relationships/hyperlink" Target="https://home.iitk.ac.in/~kundu/paper59" TargetMode="External"/><Relationship Id="rId9" Type="http://schemas.openxmlformats.org/officeDocument/2006/relationships/hyperlink" Target="https://www.kaggle.com/code/saychakra/survival-analysis-of-lung-cancer-patients/data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14DB1C1-158A-0D33-B093-EFFA24CBF52F}"/>
              </a:ext>
            </a:extLst>
          </p:cNvPr>
          <p:cNvGrpSpPr/>
          <p:nvPr/>
        </p:nvGrpSpPr>
        <p:grpSpPr>
          <a:xfrm>
            <a:off x="644166" y="546792"/>
            <a:ext cx="10893367" cy="5764415"/>
            <a:chOff x="724826" y="863274"/>
            <a:chExt cx="10252364" cy="5357091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52D954-E1B3-4EB6-7105-A76B723F6712}"/>
                </a:ext>
              </a:extLst>
            </p:cNvPr>
            <p:cNvSpPr/>
            <p:nvPr/>
          </p:nvSpPr>
          <p:spPr>
            <a:xfrm>
              <a:off x="724826" y="863274"/>
              <a:ext cx="10252364" cy="5357091"/>
            </a:xfrm>
            <a:prstGeom prst="rect">
              <a:avLst/>
            </a:prstGeom>
            <a:grpFill/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7DC71BC-67A1-26C5-4B2E-D6A6EBDBDC38}"/>
                    </a:ext>
                  </a:extLst>
                </p:cNvPr>
                <p:cNvSpPr txBox="1"/>
                <p:nvPr/>
              </p:nvSpPr>
              <p:spPr>
                <a:xfrm>
                  <a:off x="949970" y="2467831"/>
                  <a:ext cx="9802073" cy="111551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ctr"/>
                  <a:r>
                    <a:rPr lang="en-IN" sz="3600" b="1" dirty="0">
                      <a:solidFill>
                        <a:srgbClr val="1B3728"/>
                      </a:solidFill>
                      <a:latin typeface="Palatino Linotype"/>
                    </a:rPr>
                    <a:t>Application of Exponential-Gamma(3,</a:t>
                  </a:r>
                  <a14:m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1B3728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a14:m>
                  <a:r>
                    <a:rPr lang="en-IN" sz="3600" b="1" dirty="0">
                      <a:solidFill>
                        <a:srgbClr val="1B3728"/>
                      </a:solidFill>
                      <a:latin typeface="Palatino Linotype"/>
                    </a:rPr>
                    <a:t>) </a:t>
                  </a:r>
                </a:p>
                <a:p>
                  <a:pPr algn="ctr"/>
                  <a:r>
                    <a:rPr lang="en-IN" sz="3600" b="1" dirty="0">
                      <a:solidFill>
                        <a:srgbClr val="1B3728"/>
                      </a:solidFill>
                      <a:latin typeface="Palatino Linotype"/>
                    </a:rPr>
                    <a:t>in Epidemiology</a:t>
                  </a:r>
                  <a:endParaRPr lang="en-IN" sz="3600" dirty="0">
                    <a:latin typeface="Palatino Linotype"/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7DC71BC-67A1-26C5-4B2E-D6A6EBDBD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970" y="2467831"/>
                  <a:ext cx="9802073" cy="1115512"/>
                </a:xfrm>
                <a:prstGeom prst="rect">
                  <a:avLst/>
                </a:prstGeom>
                <a:blipFill>
                  <a:blip r:embed="rId2"/>
                  <a:stretch>
                    <a:fillRect t="-8122" b="-1827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51144A-33D6-102A-B6E5-6803E9EBA6D2}"/>
                </a:ext>
              </a:extLst>
            </p:cNvPr>
            <p:cNvSpPr txBox="1"/>
            <p:nvPr/>
          </p:nvSpPr>
          <p:spPr>
            <a:xfrm>
              <a:off x="839485" y="3967224"/>
              <a:ext cx="1837771" cy="48624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IN" sz="2800" b="1" dirty="0">
                  <a:solidFill>
                    <a:srgbClr val="1B3728"/>
                  </a:solidFill>
                  <a:latin typeface="Palatino Linotype" panose="02040502050505030304" pitchFamily="18" charset="0"/>
                </a:rPr>
                <a:t>Group 7</a:t>
              </a:r>
              <a:endParaRPr lang="en-US" sz="2800" dirty="0">
                <a:latin typeface="Palatino Linotype" panose="0204050205050503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94066A-BC3D-43B7-2C54-FD6A987F4D80}"/>
                </a:ext>
              </a:extLst>
            </p:cNvPr>
            <p:cNvSpPr txBox="1"/>
            <p:nvPr/>
          </p:nvSpPr>
          <p:spPr>
            <a:xfrm>
              <a:off x="839485" y="4468852"/>
              <a:ext cx="4319625" cy="163036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IN" b="1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Members:</a:t>
              </a:r>
              <a:endParaRPr lang="en-US" b="1" dirty="0">
                <a:latin typeface="Georgia Pro" panose="02040502050405020303" pitchFamily="18" charset="0"/>
              </a:endParaRPr>
            </a:p>
            <a:p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A002 – </a:t>
              </a:r>
              <a:r>
                <a:rPr lang="en-IN" dirty="0" err="1">
                  <a:solidFill>
                    <a:srgbClr val="1B3728"/>
                  </a:solidFill>
                  <a:latin typeface="Georgia Pro" panose="02040502050405020303" pitchFamily="18" charset="0"/>
                </a:rPr>
                <a:t>Maaz</a:t>
              </a:r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 Attar </a:t>
              </a:r>
              <a:endParaRPr lang="en-IN" dirty="0">
                <a:latin typeface="Georgia Pro" panose="02040502050405020303" pitchFamily="18" charset="0"/>
              </a:endParaRPr>
            </a:p>
            <a:p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A004 – Linette Correia </a:t>
              </a:r>
            </a:p>
            <a:p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A005 – </a:t>
              </a:r>
              <a:r>
                <a:rPr lang="en-IN" dirty="0" err="1">
                  <a:solidFill>
                    <a:srgbClr val="1B3728"/>
                  </a:solidFill>
                  <a:latin typeface="Georgia Pro" panose="02040502050405020303" pitchFamily="18" charset="0"/>
                </a:rPr>
                <a:t>Fiza</a:t>
              </a:r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 </a:t>
              </a:r>
              <a:r>
                <a:rPr lang="en-IN" dirty="0" err="1">
                  <a:solidFill>
                    <a:srgbClr val="1B3728"/>
                  </a:solidFill>
                  <a:latin typeface="Georgia Pro" panose="02040502050405020303" pitchFamily="18" charset="0"/>
                </a:rPr>
                <a:t>Dalwai</a:t>
              </a:r>
              <a:endParaRPr lang="en-IN" dirty="0">
                <a:solidFill>
                  <a:srgbClr val="1B3728"/>
                </a:solidFill>
                <a:latin typeface="Georgia Pro" panose="02040502050405020303" pitchFamily="18" charset="0"/>
              </a:endParaRPr>
            </a:p>
            <a:p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A010 – Rohit </a:t>
              </a:r>
              <a:r>
                <a:rPr lang="en-IN" dirty="0" err="1">
                  <a:solidFill>
                    <a:srgbClr val="1B3728"/>
                  </a:solidFill>
                  <a:latin typeface="Georgia Pro" panose="02040502050405020303" pitchFamily="18" charset="0"/>
                </a:rPr>
                <a:t>Fuke</a:t>
              </a:r>
              <a:endParaRPr lang="en-IN" dirty="0">
                <a:solidFill>
                  <a:srgbClr val="1B3728"/>
                </a:solidFill>
                <a:latin typeface="Georgia Pro" panose="02040502050405020303" pitchFamily="18" charset="0"/>
              </a:endParaRPr>
            </a:p>
            <a:p>
              <a:r>
                <a:rPr lang="en-IN" dirty="0">
                  <a:solidFill>
                    <a:srgbClr val="1B3728"/>
                  </a:solidFill>
                  <a:latin typeface="Georgia Pro" panose="02040502050405020303" pitchFamily="18" charset="0"/>
                </a:rPr>
                <a:t>A017 – Angela Job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4B2B6D-5C74-F07C-1813-59CF54B5E0EB}"/>
                </a:ext>
              </a:extLst>
            </p:cNvPr>
            <p:cNvSpPr txBox="1"/>
            <p:nvPr/>
          </p:nvSpPr>
          <p:spPr>
            <a:xfrm>
              <a:off x="5658786" y="5293690"/>
              <a:ext cx="5209079" cy="858086"/>
            </a:xfrm>
            <a:prstGeom prst="rect">
              <a:avLst/>
            </a:prstGeom>
            <a:grp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b="1" dirty="0">
                  <a:latin typeface="Bookman Old Style"/>
                  <a:cs typeface="Calibri"/>
                </a:rPr>
                <a:t>Project Mentor: </a:t>
              </a:r>
            </a:p>
            <a:p>
              <a:pPr algn="r"/>
              <a:r>
                <a:rPr lang="en-US" b="1" dirty="0">
                  <a:latin typeface="Bookman Old Style"/>
                  <a:cs typeface="Calibri"/>
                </a:rPr>
                <a:t>Dr. KS Madhava Rao</a:t>
              </a:r>
            </a:p>
            <a:p>
              <a:pPr algn="r"/>
              <a:r>
                <a:rPr lang="en-US" b="1" dirty="0">
                  <a:latin typeface="Bookman Old Style"/>
                  <a:cs typeface="Calibri"/>
                </a:rPr>
                <a:t>Professor</a:t>
              </a:r>
              <a:r>
                <a:rPr lang="en-US" b="1">
                  <a:latin typeface="Bookman Old Style"/>
                  <a:cs typeface="Calibri"/>
                </a:rPr>
                <a:t>, Statistics SVKM </a:t>
              </a:r>
              <a:r>
                <a:rPr lang="en-US" b="1" dirty="0">
                  <a:latin typeface="Bookman Old Style"/>
                  <a:cs typeface="Calibri"/>
                </a:rPr>
                <a:t>NMIMS </a:t>
              </a:r>
              <a:endParaRPr lang="en-US" dirty="0"/>
            </a:p>
          </p:txBody>
        </p:sp>
      </p:grpSp>
      <p:pic>
        <p:nvPicPr>
          <p:cNvPr id="11" name="Picture 2" descr="School of Mathematics, Applied Statistics &amp; Analytics">
            <a:extLst>
              <a:ext uri="{FF2B5EF4-FFF2-40B4-BE49-F238E27FC236}">
                <a16:creationId xmlns:a16="http://schemas.microsoft.com/office/drawing/2014/main" id="{FF8FABF4-F283-6506-95BE-4B05E5F0F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17"/>
          <a:stretch/>
        </p:blipFill>
        <p:spPr bwMode="auto">
          <a:xfrm>
            <a:off x="654467" y="609979"/>
            <a:ext cx="2194565" cy="10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E36F2A-3FCE-4FC0-68FE-0BBA956D636B}"/>
              </a:ext>
            </a:extLst>
          </p:cNvPr>
          <p:cNvSpPr/>
          <p:nvPr/>
        </p:nvSpPr>
        <p:spPr>
          <a:xfrm>
            <a:off x="2849032" y="609979"/>
            <a:ext cx="5207847" cy="108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NILKAMAL SCHOOL OF MATHEMATICS, APPLIED STATISTICS &amp; ANALYTICS</a:t>
            </a:r>
            <a:endParaRPr lang="en-IN" b="1" dirty="0">
              <a:solidFill>
                <a:sysClr val="windowText" lastClr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02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C7014-DFF1-CC4E-C9CB-03C79EBC79D7}"/>
              </a:ext>
            </a:extLst>
          </p:cNvPr>
          <p:cNvSpPr txBox="1"/>
          <p:nvPr/>
        </p:nvSpPr>
        <p:spPr>
          <a:xfrm>
            <a:off x="0" y="0"/>
            <a:ext cx="2615381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1C3BD-2673-57FD-3E1B-387F31E5E11C}"/>
              </a:ext>
            </a:extLst>
          </p:cNvPr>
          <p:cNvSpPr txBox="1"/>
          <p:nvPr/>
        </p:nvSpPr>
        <p:spPr>
          <a:xfrm>
            <a:off x="127819" y="2618508"/>
            <a:ext cx="2359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Palatino Linotype" panose="02040502050505030304" pitchFamily="18" charset="0"/>
              </a:rPr>
              <a:t>Research </a:t>
            </a:r>
          </a:p>
          <a:p>
            <a:r>
              <a:rPr lang="en-US" sz="3200" b="1" dirty="0">
                <a:latin typeface="Palatino Linotype" panose="02040502050505030304" pitchFamily="18" charset="0"/>
              </a:rPr>
              <a:t>Paper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AFCF4-C169-41EC-46C7-2DBE6C24BEED}"/>
              </a:ext>
            </a:extLst>
          </p:cNvPr>
          <p:cNvSpPr txBox="1"/>
          <p:nvPr/>
        </p:nvSpPr>
        <p:spPr>
          <a:xfrm>
            <a:off x="2900515" y="303124"/>
            <a:ext cx="889819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Exponential-Gamma (𝟑, 𝜽) Distribution and its Applications</a:t>
            </a:r>
          </a:p>
          <a:p>
            <a:pPr algn="ctr"/>
            <a:endParaRPr lang="en-US" sz="1000" b="1" dirty="0">
              <a:latin typeface="Palatino Linotype" panose="02040502050505030304" pitchFamily="18" charset="0"/>
            </a:endParaRPr>
          </a:p>
          <a:p>
            <a:pPr algn="ctr"/>
            <a:endParaRPr lang="en-US" sz="1000" b="1" dirty="0">
              <a:latin typeface="Palatino Linotype" panose="02040502050505030304" pitchFamily="18" charset="0"/>
            </a:endParaRPr>
          </a:p>
          <a:p>
            <a:pPr algn="r"/>
            <a:r>
              <a:rPr lang="en-US" sz="2400" b="1" dirty="0">
                <a:latin typeface="Palatino Linotype" panose="02040502050505030304" pitchFamily="18" charset="0"/>
              </a:rPr>
              <a:t>				by </a:t>
            </a:r>
            <a:r>
              <a:rPr lang="en-US" sz="2400" b="1" dirty="0" err="1">
                <a:latin typeface="Palatino Linotype" panose="02040502050505030304" pitchFamily="18" charset="0"/>
              </a:rPr>
              <a:t>Beenu</a:t>
            </a:r>
            <a:r>
              <a:rPr lang="en-US" sz="2400" b="1" dirty="0">
                <a:latin typeface="Palatino Linotype" panose="02040502050505030304" pitchFamily="18" charset="0"/>
              </a:rPr>
              <a:t> Thomas &amp; V M Chacko</a:t>
            </a:r>
          </a:p>
          <a:p>
            <a:pPr algn="r"/>
            <a:r>
              <a:rPr lang="en-US" sz="2000" b="1" dirty="0">
                <a:latin typeface="Palatino Linotype" panose="02040502050505030304" pitchFamily="18" charset="0"/>
              </a:rPr>
              <a:t>Thrissur, Kerala, India</a:t>
            </a:r>
          </a:p>
          <a:p>
            <a:pPr algn="ctr"/>
            <a:endParaRPr lang="en-US" sz="900" b="1" dirty="0">
              <a:latin typeface="Palatino Linotype" panose="02040502050505030304" pitchFamily="18" charset="0"/>
            </a:endParaRPr>
          </a:p>
          <a:p>
            <a:pPr algn="r"/>
            <a:r>
              <a:rPr lang="en-US" sz="2400" b="1" dirty="0">
                <a:latin typeface="Palatino Linotype" panose="02040502050505030304" pitchFamily="18" charset="0"/>
              </a:rPr>
              <a:t>				   published in Sept 2020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365FD2-FB42-82D0-7CC9-92ABDA2D3457}"/>
                  </a:ext>
                </a:extLst>
              </p:cNvPr>
              <p:cNvSpPr txBox="1"/>
              <p:nvPr/>
            </p:nvSpPr>
            <p:spPr>
              <a:xfrm>
                <a:off x="3013364" y="2618508"/>
                <a:ext cx="8785344" cy="2726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dirty="0">
                  <a:solidFill>
                    <a:srgbClr val="000000"/>
                  </a:solidFill>
                  <a:latin typeface="Palatino Linotype" panose="02040502050505030304" pitchFamily="18" charset="0"/>
                  <a:ea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Abstract: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rgbClr val="000000"/>
                  </a:solidFill>
                  <a:latin typeface="Palatino Linotype" panose="02040502050505030304" pitchFamily="18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Model discussed is </a:t>
                </a:r>
                <a:r>
                  <a:rPr lang="en-US" sz="1800" dirty="0">
                    <a:latin typeface="Palatino Linotype" panose="02040502050505030304" pitchFamily="18" charset="0"/>
                  </a:rPr>
                  <a:t>Exponential-Gamma (3,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latin typeface="Palatino Linotype" panose="02040502050505030304" pitchFamily="18" charset="0"/>
                  </a:rPr>
                  <a:t>) Distribution.</a:t>
                </a:r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Survival data on the death times of Psychiatric is used. </a:t>
                </a: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IN" sz="1800" dirty="0">
                    <a:effectLst/>
                    <a:latin typeface="Palatino Linotype" panose="0204050205050503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Used model selection criteria such as log-likelihood function, K-S test, AIC, BIC, p-value ,and PP-plot. </a:t>
                </a:r>
                <a:endParaRPr lang="en-US" sz="18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Exponential-Gamma(3,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dirty="0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)distribution is effective in providing better fit than Exponential and </a:t>
                </a:r>
                <a:r>
                  <a:rPr lang="en-IN">
                    <a:solidFill>
                      <a:srgbClr val="000000"/>
                    </a:solidFill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Exponentiated-Exponential distribution.</a:t>
                </a:r>
                <a:endParaRPr lang="en-IN" dirty="0">
                  <a:solidFill>
                    <a:srgbClr val="000000"/>
                  </a:solidFill>
                  <a:latin typeface="Palatino Linotype" panose="0204050205050503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365FD2-FB42-82D0-7CC9-92ABDA2D3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364" y="2618508"/>
                <a:ext cx="8785344" cy="2726644"/>
              </a:xfrm>
              <a:prstGeom prst="rect">
                <a:avLst/>
              </a:prstGeom>
              <a:blipFill>
                <a:blip r:embed="rId3"/>
                <a:stretch>
                  <a:fillRect l="-555" b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9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0DB7D-D1E5-6156-7318-7384B50C930A}"/>
              </a:ext>
            </a:extLst>
          </p:cNvPr>
          <p:cNvSpPr txBox="1"/>
          <p:nvPr/>
        </p:nvSpPr>
        <p:spPr>
          <a:xfrm>
            <a:off x="0" y="0"/>
            <a:ext cx="2615381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A8C20-82E9-EF15-F7B6-C763EF408E03}"/>
              </a:ext>
            </a:extLst>
          </p:cNvPr>
          <p:cNvSpPr txBox="1"/>
          <p:nvPr/>
        </p:nvSpPr>
        <p:spPr>
          <a:xfrm>
            <a:off x="0" y="2782669"/>
            <a:ext cx="2930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latino Linotype" panose="0204050205050503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9B6D7-0557-737C-9B79-0C240DDE8043}"/>
              </a:ext>
            </a:extLst>
          </p:cNvPr>
          <p:cNvSpPr txBox="1"/>
          <p:nvPr/>
        </p:nvSpPr>
        <p:spPr>
          <a:xfrm>
            <a:off x="2930970" y="650940"/>
            <a:ext cx="8045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 Linotype" panose="02040502050505030304" pitchFamily="18" charset="0"/>
              </a:rPr>
              <a:t>Epidemiology</a:t>
            </a:r>
            <a:r>
              <a:rPr lang="en-US" sz="2000" dirty="0">
                <a:latin typeface="Palatino Linotype" panose="02040502050505030304" pitchFamily="18" charset="0"/>
              </a:rPr>
              <a:t> is the study of how often diseases occur in different groups of people and why.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39B54B-7B8B-B474-59E8-7B73CA3A0967}"/>
              </a:ext>
            </a:extLst>
          </p:cNvPr>
          <p:cNvSpPr txBox="1"/>
          <p:nvPr/>
        </p:nvSpPr>
        <p:spPr>
          <a:xfrm>
            <a:off x="2930236" y="1667178"/>
            <a:ext cx="374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 Linotype" panose="02040502050505030304" pitchFamily="18" charset="0"/>
              </a:rPr>
              <a:t>What is mixture distribution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712E3F-9C18-979E-DD38-04D12B58A8AB}"/>
                  </a:ext>
                </a:extLst>
              </p:cNvPr>
              <p:cNvSpPr txBox="1"/>
              <p:nvPr/>
            </p:nvSpPr>
            <p:spPr>
              <a:xfrm>
                <a:off x="2930236" y="2260725"/>
                <a:ext cx="8458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0" dirty="0">
                    <a:solidFill>
                      <a:srgbClr val="202122"/>
                    </a:solidFill>
                    <a:effectLst/>
                    <a:latin typeface="Palatino Linotype" panose="02040502050505030304" pitchFamily="18" charset="0"/>
                  </a:rPr>
                  <a:t>Given a finite set of probability density functions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Palatino Linotype" panose="02040502050505030304" pitchFamily="18" charset="0"/>
                  </a:rPr>
                  <a:t> with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Palatino Linotype" panose="0204050205050503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712E3F-9C18-979E-DD38-04D12B58A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36" y="2260725"/>
                <a:ext cx="8458200" cy="707886"/>
              </a:xfrm>
              <a:prstGeom prst="rect">
                <a:avLst/>
              </a:prstGeom>
              <a:blipFill>
                <a:blip r:embed="rId2"/>
                <a:stretch>
                  <a:fillRect l="-793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4C0659-19A4-D57C-658C-A48FEC702799}"/>
                  </a:ext>
                </a:extLst>
              </p:cNvPr>
              <p:cNvSpPr txBox="1"/>
              <p:nvPr/>
            </p:nvSpPr>
            <p:spPr>
              <a:xfrm>
                <a:off x="4393920" y="3682215"/>
                <a:ext cx="3958937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4C0659-19A4-D57C-658C-A48FEC70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920" y="3682215"/>
                <a:ext cx="3958937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A7DA04C2-E5C9-B985-8F79-28D91BBB6715}"/>
              </a:ext>
            </a:extLst>
          </p:cNvPr>
          <p:cNvSpPr txBox="1"/>
          <p:nvPr/>
        </p:nvSpPr>
        <p:spPr>
          <a:xfrm>
            <a:off x="2930236" y="3125358"/>
            <a:ext cx="605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The mixture distribution can be represented by;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5B1137-341B-3DB6-1EAD-E4A333E236F6}"/>
                  </a:ext>
                </a:extLst>
              </p:cNvPr>
              <p:cNvSpPr txBox="1"/>
              <p:nvPr/>
            </p:nvSpPr>
            <p:spPr>
              <a:xfrm>
                <a:off x="7980220" y="3980691"/>
                <a:ext cx="3086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Palatino Linotype" panose="02040502050505030304" pitchFamily="18" charset="0"/>
                  </a:rPr>
                  <a:t>;where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≥0,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5B1137-341B-3DB6-1EAD-E4A333E23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20" y="3980691"/>
                <a:ext cx="3086099" cy="400110"/>
              </a:xfrm>
              <a:prstGeom prst="rect">
                <a:avLst/>
              </a:prstGeom>
              <a:blipFill>
                <a:blip r:embed="rId4"/>
                <a:stretch>
                  <a:fillRect l="-1976"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4ECCF16-E0E8-7EA2-6B17-02D8D6367FC4}"/>
              </a:ext>
            </a:extLst>
          </p:cNvPr>
          <p:cNvSpPr txBox="1"/>
          <p:nvPr/>
        </p:nvSpPr>
        <p:spPr>
          <a:xfrm>
            <a:off x="3075708" y="5070066"/>
            <a:ext cx="5912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alatino Linotype" panose="02040502050505030304" pitchFamily="18" charset="0"/>
              </a:rPr>
              <a:t>This type of mixture is called </a:t>
            </a:r>
            <a:r>
              <a:rPr lang="en-US" sz="2000" b="1" dirty="0">
                <a:latin typeface="Palatino Linotype" panose="02040502050505030304" pitchFamily="18" charset="0"/>
              </a:rPr>
              <a:t>finite mixture </a:t>
            </a:r>
          </a:p>
        </p:txBody>
      </p:sp>
    </p:spTree>
    <p:extLst>
      <p:ext uri="{BB962C8B-B14F-4D97-AF65-F5344CB8AC3E}">
        <p14:creationId xmlns:p14="http://schemas.microsoft.com/office/powerpoint/2010/main" val="281293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1" grpId="0"/>
      <p:bldP spid="34" grpId="0"/>
      <p:bldP spid="35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0DB7D-D1E5-6156-7318-7384B50C930A}"/>
              </a:ext>
            </a:extLst>
          </p:cNvPr>
          <p:cNvSpPr txBox="1"/>
          <p:nvPr/>
        </p:nvSpPr>
        <p:spPr>
          <a:xfrm>
            <a:off x="0" y="0"/>
            <a:ext cx="2615381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A8C20-82E9-EF15-F7B6-C763EF408E03}"/>
              </a:ext>
            </a:extLst>
          </p:cNvPr>
          <p:cNvSpPr txBox="1"/>
          <p:nvPr/>
        </p:nvSpPr>
        <p:spPr>
          <a:xfrm>
            <a:off x="0" y="2782669"/>
            <a:ext cx="2930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alatino Linotype" panose="02040502050505030304" pitchFamily="18" charset="0"/>
              </a:rPr>
              <a:t>Introduction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6220A9-E156-D395-319D-74146A285B16}"/>
              </a:ext>
            </a:extLst>
          </p:cNvPr>
          <p:cNvGrpSpPr/>
          <p:nvPr/>
        </p:nvGrpSpPr>
        <p:grpSpPr>
          <a:xfrm>
            <a:off x="4765964" y="1435111"/>
            <a:ext cx="1330036" cy="1200329"/>
            <a:chOff x="4533900" y="2047009"/>
            <a:chExt cx="1330036" cy="12003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0192E1E-1CBA-1C80-B030-6BA2DDD2AB44}"/>
                </a:ext>
              </a:extLst>
            </p:cNvPr>
            <p:cNvSpPr/>
            <p:nvPr/>
          </p:nvSpPr>
          <p:spPr>
            <a:xfrm>
              <a:off x="4533900" y="2047009"/>
              <a:ext cx="1330036" cy="120032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2AAF9A-C7C4-1DB4-4E4C-10C7188266E5}"/>
                </a:ext>
              </a:extLst>
            </p:cNvPr>
            <p:cNvSpPr txBox="1"/>
            <p:nvPr/>
          </p:nvSpPr>
          <p:spPr>
            <a:xfrm>
              <a:off x="4810991" y="2462506"/>
              <a:ext cx="980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Height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CC5111-2839-3838-6B0A-A50C551804CA}"/>
              </a:ext>
            </a:extLst>
          </p:cNvPr>
          <p:cNvGrpSpPr/>
          <p:nvPr/>
        </p:nvGrpSpPr>
        <p:grpSpPr>
          <a:xfrm>
            <a:off x="8297671" y="1435111"/>
            <a:ext cx="1330036" cy="1200329"/>
            <a:chOff x="7242464" y="2047008"/>
            <a:chExt cx="1330036" cy="120032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C764550-4A89-1EB0-E566-2CAD26F71B4E}"/>
                </a:ext>
              </a:extLst>
            </p:cNvPr>
            <p:cNvSpPr/>
            <p:nvPr/>
          </p:nvSpPr>
          <p:spPr>
            <a:xfrm>
              <a:off x="7242464" y="2047008"/>
              <a:ext cx="1330036" cy="120032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B795F0-8389-4989-23BC-37ABA174E88D}"/>
                </a:ext>
              </a:extLst>
            </p:cNvPr>
            <p:cNvSpPr txBox="1"/>
            <p:nvPr/>
          </p:nvSpPr>
          <p:spPr>
            <a:xfrm>
              <a:off x="7486649" y="2462506"/>
              <a:ext cx="907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Weight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B43FEC-82C3-591F-4FF8-87341EE5C13E}"/>
              </a:ext>
            </a:extLst>
          </p:cNvPr>
          <p:cNvSpPr txBox="1"/>
          <p:nvPr/>
        </p:nvSpPr>
        <p:spPr>
          <a:xfrm>
            <a:off x="3612207" y="4613615"/>
            <a:ext cx="95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Gender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93C6621-97BA-AF65-5FA9-6EDBEF0811E9}"/>
              </a:ext>
            </a:extLst>
          </p:cNvPr>
          <p:cNvGrpSpPr/>
          <p:nvPr/>
        </p:nvGrpSpPr>
        <p:grpSpPr>
          <a:xfrm>
            <a:off x="6400797" y="3041995"/>
            <a:ext cx="1691989" cy="871650"/>
            <a:chOff x="5715863" y="3610663"/>
            <a:chExt cx="1691989" cy="87165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0D7FB81-6249-C11D-B5F3-AB666688CEB1}"/>
                </a:ext>
              </a:extLst>
            </p:cNvPr>
            <p:cNvSpPr/>
            <p:nvPr/>
          </p:nvSpPr>
          <p:spPr>
            <a:xfrm>
              <a:off x="5715863" y="3610663"/>
              <a:ext cx="1691989" cy="87165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68528E-844D-5A6D-01F2-4C5AF81071A5}"/>
                </a:ext>
              </a:extLst>
            </p:cNvPr>
            <p:cNvSpPr txBox="1"/>
            <p:nvPr/>
          </p:nvSpPr>
          <p:spPr>
            <a:xfrm>
              <a:off x="6137562" y="3805170"/>
              <a:ext cx="959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Factors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C005D06-9210-E1BD-F016-BEBF07800AFB}"/>
              </a:ext>
            </a:extLst>
          </p:cNvPr>
          <p:cNvSpPr txBox="1"/>
          <p:nvPr/>
        </p:nvSpPr>
        <p:spPr>
          <a:xfrm>
            <a:off x="6941992" y="568291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93FB1-780F-9652-BE1A-8F0426339B42}"/>
              </a:ext>
            </a:extLst>
          </p:cNvPr>
          <p:cNvSpPr txBox="1"/>
          <p:nvPr/>
        </p:nvSpPr>
        <p:spPr>
          <a:xfrm>
            <a:off x="9075955" y="4545066"/>
            <a:ext cx="227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People with height or weight issues.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DA0B01-E0A5-EA4C-9DB3-1D099E1051A8}"/>
              </a:ext>
            </a:extLst>
          </p:cNvPr>
          <p:cNvCxnSpPr>
            <a:cxnSpLocks/>
          </p:cNvCxnSpPr>
          <p:nvPr/>
        </p:nvCxnSpPr>
        <p:spPr>
          <a:xfrm>
            <a:off x="7196835" y="2035274"/>
            <a:ext cx="0" cy="1001738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55C1B0-2820-C752-C541-5E18D55BA335}"/>
              </a:ext>
            </a:extLst>
          </p:cNvPr>
          <p:cNvCxnSpPr>
            <a:cxnSpLocks/>
            <a:stCxn id="20" idx="1"/>
            <a:endCxn id="14" idx="0"/>
          </p:cNvCxnSpPr>
          <p:nvPr/>
        </p:nvCxnSpPr>
        <p:spPr>
          <a:xfrm flipH="1">
            <a:off x="4091921" y="3477820"/>
            <a:ext cx="2308876" cy="1135795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3CD8F6-AA31-3FC7-2540-A7F7E641E5A3}"/>
              </a:ext>
            </a:extLst>
          </p:cNvPr>
          <p:cNvCxnSpPr>
            <a:stCxn id="20" idx="2"/>
            <a:endCxn id="15" idx="0"/>
          </p:cNvCxnSpPr>
          <p:nvPr/>
        </p:nvCxnSpPr>
        <p:spPr>
          <a:xfrm>
            <a:off x="7246792" y="3913645"/>
            <a:ext cx="0" cy="1769273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BF3140-9401-D64F-DBD6-B5E3142A462D}"/>
              </a:ext>
            </a:extLst>
          </p:cNvPr>
          <p:cNvCxnSpPr>
            <a:stCxn id="20" idx="3"/>
            <a:endCxn id="16" idx="0"/>
          </p:cNvCxnSpPr>
          <p:nvPr/>
        </p:nvCxnSpPr>
        <p:spPr>
          <a:xfrm>
            <a:off x="8092786" y="3477820"/>
            <a:ext cx="2120108" cy="1067246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634A5E-38C4-5321-B8E3-FC18F5B1BA6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6096000" y="2035276"/>
            <a:ext cx="2201671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939B54B-7B8B-B474-59E8-7B73CA3A0967}"/>
              </a:ext>
            </a:extLst>
          </p:cNvPr>
          <p:cNvSpPr txBox="1"/>
          <p:nvPr/>
        </p:nvSpPr>
        <p:spPr>
          <a:xfrm>
            <a:off x="2892937" y="466765"/>
            <a:ext cx="374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Palatino Linotype" panose="02040502050505030304" pitchFamily="18" charset="0"/>
              </a:rPr>
              <a:t>Need for mixture distribution:</a:t>
            </a:r>
          </a:p>
        </p:txBody>
      </p:sp>
    </p:spTree>
    <p:extLst>
      <p:ext uri="{BB962C8B-B14F-4D97-AF65-F5344CB8AC3E}">
        <p14:creationId xmlns:p14="http://schemas.microsoft.com/office/powerpoint/2010/main" val="61249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3CE614-AD61-BA2D-4D90-97A9533BE233}"/>
              </a:ext>
            </a:extLst>
          </p:cNvPr>
          <p:cNvSpPr/>
          <p:nvPr/>
        </p:nvSpPr>
        <p:spPr>
          <a:xfrm>
            <a:off x="1" y="-19664"/>
            <a:ext cx="12192000" cy="1173018"/>
          </a:xfrm>
          <a:prstGeom prst="rect">
            <a:avLst/>
          </a:prstGeom>
          <a:solidFill>
            <a:srgbClr val="E1DE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Objective of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BF8B6-FA70-F89E-3102-B699AEDC0594}"/>
              </a:ext>
            </a:extLst>
          </p:cNvPr>
          <p:cNvSpPr txBox="1"/>
          <p:nvPr/>
        </p:nvSpPr>
        <p:spPr>
          <a:xfrm>
            <a:off x="1878496" y="2174291"/>
            <a:ext cx="925332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 dirty="0">
                <a:latin typeface="Palatino Linotype" panose="02040502050505030304" pitchFamily="18" charset="0"/>
              </a:rPr>
              <a:t>To study and discuss the properties of Exponential-Gamma (3, 𝜃) distribution. </a:t>
            </a:r>
            <a:r>
              <a:rPr lang="en-US" sz="2800" dirty="0"/>
              <a:t>To fit an Exponential-Gamma distribution to real-life datasets and ascertain the goodness-of-fit.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C381A-2ADB-798B-0FFE-878399D3EEDD}"/>
              </a:ext>
            </a:extLst>
          </p:cNvPr>
          <p:cNvSpPr txBox="1"/>
          <p:nvPr/>
        </p:nvSpPr>
        <p:spPr>
          <a:xfrm>
            <a:off x="1878495" y="4446337"/>
            <a:ext cx="925332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/>
              <a:t>To compare the fitted Exponential-Gamma (3, 𝜃) distribution with alternatives such as Exponential Distribution and Exponential-Exponential distribution.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15808B-E671-CEE3-3361-2F7785FEF27F}"/>
              </a:ext>
            </a:extLst>
          </p:cNvPr>
          <p:cNvSpPr/>
          <p:nvPr/>
        </p:nvSpPr>
        <p:spPr>
          <a:xfrm>
            <a:off x="1" y="-58993"/>
            <a:ext cx="12192000" cy="1173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Objectives of the Project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8A868BB-836F-6B88-F233-7F7DA4900BDA}"/>
              </a:ext>
            </a:extLst>
          </p:cNvPr>
          <p:cNvSpPr/>
          <p:nvPr/>
        </p:nvSpPr>
        <p:spPr>
          <a:xfrm>
            <a:off x="838200" y="2596025"/>
            <a:ext cx="742122" cy="73342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1B3728"/>
                </a:solidFill>
                <a:latin typeface="Algerian" panose="04020705040A02060702" pitchFamily="82" charset="0"/>
              </a:rPr>
              <a:t>1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016C789-ACB7-D8F5-C90A-77ADEAEB42BC}"/>
              </a:ext>
            </a:extLst>
          </p:cNvPr>
          <p:cNvSpPr/>
          <p:nvPr/>
        </p:nvSpPr>
        <p:spPr>
          <a:xfrm>
            <a:off x="838200" y="4678603"/>
            <a:ext cx="742122" cy="73342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1B3728"/>
                </a:solidFill>
                <a:latin typeface="Algerian" panose="04020705040A02060702" pitchFamily="8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403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F89A2C-A84A-BB68-4787-A55AAA8B26B5}"/>
                  </a:ext>
                </a:extLst>
              </p:cNvPr>
              <p:cNvSpPr txBox="1"/>
              <p:nvPr/>
            </p:nvSpPr>
            <p:spPr>
              <a:xfrm>
                <a:off x="3895091" y="1906257"/>
                <a:ext cx="4389120" cy="132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Palatino Linotype" panose="02040502050505030304" pitchFamily="18" charset="0"/>
                  </a:rPr>
                  <a:t>pdf of Mixture Distribution</a:t>
                </a:r>
              </a:p>
              <a:p>
                <a:pPr algn="ctr"/>
                <a:endParaRPr lang="en-US" sz="900" b="0" dirty="0">
                  <a:latin typeface="Palatino Linotype" panose="0204050205050503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,3,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Palatino Linotype" panose="02040502050505030304" pitchFamily="18" charset="0"/>
                </a:endParaRPr>
              </a:p>
              <a:p>
                <a:pPr algn="ctr"/>
                <a:endParaRPr lang="en-US" sz="900" b="0" dirty="0">
                  <a:latin typeface="Palatino Linotype" panose="02040502050505030304" pitchFamily="18" charset="0"/>
                </a:endParaRPr>
              </a:p>
              <a:p>
                <a:pPr algn="ctr"/>
                <a:r>
                  <a:rPr lang="en-US" dirty="0">
                    <a:latin typeface="Palatino Linotype" panose="02040502050505030304" pitchFamily="18" charset="0"/>
                  </a:rPr>
                  <a:t>		                   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F89A2C-A84A-BB68-4787-A55AAA8B2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091" y="1906257"/>
                <a:ext cx="4389120" cy="1329531"/>
              </a:xfrm>
              <a:prstGeom prst="rect">
                <a:avLst/>
              </a:prstGeom>
              <a:blipFill>
                <a:blip r:embed="rId2"/>
                <a:stretch>
                  <a:fillRect t="-2752" b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86BAE-2A4F-B548-3985-D6A554202399}"/>
                  </a:ext>
                </a:extLst>
              </p:cNvPr>
              <p:cNvSpPr txBox="1"/>
              <p:nvPr/>
            </p:nvSpPr>
            <p:spPr>
              <a:xfrm>
                <a:off x="8698809" y="1003264"/>
                <a:ext cx="3489959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>
                    <a:latin typeface="Palatino Linotype" panose="02040502050505030304" pitchFamily="18" charset="0"/>
                  </a:rPr>
                  <a:t>pdf of Gamma(3,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latin typeface="Palatino Linotype" panose="02040502050505030304" pitchFamily="18" charset="0"/>
                  </a:rPr>
                  <a:t>)</a:t>
                </a:r>
              </a:p>
              <a:p>
                <a:endParaRPr lang="en-US" sz="9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&gt;0, </m:t>
                      </m:r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86BAE-2A4F-B548-3985-D6A554202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809" y="1003264"/>
                <a:ext cx="3489959" cy="1061829"/>
              </a:xfrm>
              <a:prstGeom prst="rect">
                <a:avLst/>
              </a:prstGeom>
              <a:blipFill>
                <a:blip r:embed="rId4"/>
                <a:stretch>
                  <a:fillRect t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A75456E-C1DD-3D09-E120-C469CA92AFE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9188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4000" b="1" dirty="0">
                    <a:solidFill>
                      <a:srgbClr val="1B3728"/>
                    </a:solidFill>
                    <a:latin typeface="Palatino Linotype" panose="02040502050505030304" pitchFamily="18" charset="0"/>
                  </a:rPr>
                  <a:t>Formation of pdf for EGD(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1B3728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IN" sz="4000" b="1" dirty="0">
                    <a:solidFill>
                      <a:srgbClr val="1B3728"/>
                    </a:solidFill>
                    <a:latin typeface="Palatino Linotype" panose="0204050205050503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A75456E-C1DD-3D09-E120-C469CA92AF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918865"/>
              </a:xfrm>
              <a:prstGeom prst="rect">
                <a:avLst/>
              </a:prstGeom>
              <a:blipFill>
                <a:blip r:embed="rId5"/>
                <a:stretch>
                  <a:fillRect b="-16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3DFDB-A917-4F06-4690-E7D08CD76799}"/>
                  </a:ext>
                </a:extLst>
              </p:cNvPr>
              <p:cNvSpPr txBox="1"/>
              <p:nvPr/>
            </p:nvSpPr>
            <p:spPr>
              <a:xfrm>
                <a:off x="3489961" y="3692496"/>
                <a:ext cx="5212080" cy="1409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latin typeface="Palatino Linotype" panose="0204050205050503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pdf of Exponential – Gamma(3,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b="0" dirty="0">
                  <a:latin typeface="Palatino Linotype" panose="0204050205050503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IN" sz="9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den>
                      </m:f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, 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&gt;0, 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3DFDB-A917-4F06-4690-E7D08CD76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61" y="3692496"/>
                <a:ext cx="5212080" cy="1409810"/>
              </a:xfrm>
              <a:prstGeom prst="rect">
                <a:avLst/>
              </a:prstGeom>
              <a:blipFill>
                <a:blip r:embed="rId6"/>
                <a:stretch>
                  <a:fillRect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D308270-DC46-7ADE-E936-B82E0C8ED9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64471" y="3460967"/>
            <a:ext cx="456708" cy="635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2498E-5E1C-BD42-E4CF-DB2DCC33D6FC}"/>
                  </a:ext>
                </a:extLst>
              </p:cNvPr>
              <p:cNvSpPr txBox="1"/>
              <p:nvPr/>
            </p:nvSpPr>
            <p:spPr>
              <a:xfrm>
                <a:off x="3230450" y="5383206"/>
                <a:ext cx="6135166" cy="1392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Palatino Linotype" panose="02040502050505030304" pitchFamily="18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The corresponding </a:t>
                </a:r>
                <a:r>
                  <a:rPr lang="en-IN" dirty="0" err="1">
                    <a:latin typeface="Palatino Linotype" panose="02040502050505030304" pitchFamily="18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cdf</a:t>
                </a:r>
                <a:r>
                  <a:rPr lang="en-IN" dirty="0">
                    <a:latin typeface="Palatino Linotype" panose="02040502050505030304" pitchFamily="18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 of EDG(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b="0" dirty="0">
                  <a:latin typeface="Palatino Linotype" panose="02040502050505030304" pitchFamily="18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endParaRPr lang="en-IN" sz="900" dirty="0">
                  <a:effectLst/>
                  <a:latin typeface="Palatino Linotype" panose="02040502050505030304" pitchFamily="18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+2</m:t>
                                  </m:r>
                                </m:e>
                              </m:d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den>
                      </m:f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 , 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&gt;0, 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B2498E-5E1C-BD42-E4CF-DB2DCC33D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450" y="5383206"/>
                <a:ext cx="6135166" cy="1392817"/>
              </a:xfrm>
              <a:prstGeom prst="rect">
                <a:avLst/>
              </a:prstGeom>
              <a:blipFill>
                <a:blip r:embed="rId7"/>
                <a:stretch>
                  <a:fillRect l="-895" t="-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BE588B7C-B7B2-5EA0-29B3-7F6FC2ECD992}"/>
              </a:ext>
            </a:extLst>
          </p:cNvPr>
          <p:cNvCxnSpPr>
            <a:cxnSpLocks/>
            <a:stCxn id="4" idx="2"/>
            <a:endCxn id="2" idx="3"/>
          </p:cNvCxnSpPr>
          <p:nvPr/>
        </p:nvCxnSpPr>
        <p:spPr>
          <a:xfrm rot="5400000">
            <a:off x="9111035" y="1238269"/>
            <a:ext cx="505930" cy="2159578"/>
          </a:xfrm>
          <a:prstGeom prst="curvedConnector2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91069F-7BBD-8E65-DDEC-A54226A6B812}"/>
                  </a:ext>
                </a:extLst>
              </p:cNvPr>
              <p:cNvSpPr txBox="1"/>
              <p:nvPr/>
            </p:nvSpPr>
            <p:spPr>
              <a:xfrm>
                <a:off x="568099" y="1003264"/>
                <a:ext cx="2921862" cy="1073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>
                    <a:latin typeface="Palatino Linotype" panose="02040502050505030304" pitchFamily="18" charset="0"/>
                  </a:rPr>
                  <a:t>pdf of Exponential(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latin typeface="Palatino Linotype" panose="02040502050505030304" pitchFamily="18" charset="0"/>
                  </a:rPr>
                  <a:t>)</a:t>
                </a:r>
              </a:p>
              <a:p>
                <a:endParaRPr lang="en-US" sz="900" b="0" dirty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IN" b="0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b="0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&gt;0, </m:t>
                      </m:r>
                      <m:r>
                        <a:rPr lang="en-IN" b="0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IN" b="0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91069F-7BBD-8E65-DDEC-A54226A6B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9" y="1003264"/>
                <a:ext cx="2921862" cy="1073948"/>
              </a:xfrm>
              <a:prstGeom prst="rect">
                <a:avLst/>
              </a:prstGeom>
              <a:blipFill>
                <a:blip r:embed="rId8"/>
                <a:stretch>
                  <a:fillRect t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E539F21-4EB7-D5DA-B167-3360B3CF8AC3}"/>
              </a:ext>
            </a:extLst>
          </p:cNvPr>
          <p:cNvCxnSpPr>
            <a:cxnSpLocks/>
            <a:stCxn id="8" idx="2"/>
            <a:endCxn id="2" idx="1"/>
          </p:cNvCxnSpPr>
          <p:nvPr/>
        </p:nvCxnSpPr>
        <p:spPr>
          <a:xfrm rot="16200000" flipH="1">
            <a:off x="2715155" y="1391086"/>
            <a:ext cx="493811" cy="1866061"/>
          </a:xfrm>
          <a:prstGeom prst="curvedConnector2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50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  <p:bldP spid="6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13D806A3-589E-362A-062F-F0F8D5A300FE}"/>
              </a:ext>
            </a:extLst>
          </p:cNvPr>
          <p:cNvGrpSpPr/>
          <p:nvPr/>
        </p:nvGrpSpPr>
        <p:grpSpPr>
          <a:xfrm>
            <a:off x="8337608" y="3161599"/>
            <a:ext cx="2595000" cy="1159115"/>
            <a:chOff x="7115441" y="5354841"/>
            <a:chExt cx="4435006" cy="1159115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87B439DC-039E-EC06-F322-2DA71270F2DB}"/>
                </a:ext>
              </a:extLst>
            </p:cNvPr>
            <p:cNvSpPr/>
            <p:nvPr/>
          </p:nvSpPr>
          <p:spPr>
            <a:xfrm>
              <a:off x="7115441" y="5354841"/>
              <a:ext cx="4435006" cy="112333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837FAC9-202F-5559-A348-A6DD702165EF}"/>
                    </a:ext>
                  </a:extLst>
                </p:cNvPr>
                <p:cNvSpPr txBox="1"/>
                <p:nvPr/>
              </p:nvSpPr>
              <p:spPr>
                <a:xfrm>
                  <a:off x="7222840" y="5549589"/>
                  <a:ext cx="4220208" cy="9643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+8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1+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837FAC9-202F-5559-A348-A6DD70216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840" y="5549589"/>
                  <a:ext cx="4220208" cy="96436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96CB3BB-6FE6-DD65-E89C-7BE88C06779B}"/>
              </a:ext>
            </a:extLst>
          </p:cNvPr>
          <p:cNvSpPr txBox="1"/>
          <p:nvPr/>
        </p:nvSpPr>
        <p:spPr>
          <a:xfrm>
            <a:off x="8262974" y="2712321"/>
            <a:ext cx="157529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Variance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B6DB5C-99B0-82A4-46D7-DF6F078F8812}"/>
              </a:ext>
            </a:extLst>
          </p:cNvPr>
          <p:cNvGrpSpPr/>
          <p:nvPr/>
        </p:nvGrpSpPr>
        <p:grpSpPr>
          <a:xfrm>
            <a:off x="4112240" y="3170408"/>
            <a:ext cx="2595000" cy="1403027"/>
            <a:chOff x="7115441" y="5354841"/>
            <a:chExt cx="4435006" cy="1403027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F804F777-42DD-FE1F-C683-48A190335A7E}"/>
                </a:ext>
              </a:extLst>
            </p:cNvPr>
            <p:cNvSpPr/>
            <p:nvPr/>
          </p:nvSpPr>
          <p:spPr>
            <a:xfrm>
              <a:off x="7115441" y="5354841"/>
              <a:ext cx="4435006" cy="112333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70B34C6-808D-1EFA-0A4C-435FDC3129E2}"/>
                    </a:ext>
                  </a:extLst>
                </p:cNvPr>
                <p:cNvSpPr txBox="1"/>
                <p:nvPr/>
              </p:nvSpPr>
              <p:spPr>
                <a:xfrm>
                  <a:off x="7222840" y="5549589"/>
                  <a:ext cx="4220208" cy="12082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+3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1+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70B34C6-808D-1EFA-0A4C-435FDC312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840" y="5549589"/>
                  <a:ext cx="4220208" cy="120827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830FD45-B438-3FB3-FFE5-35A3FEB4E151}"/>
              </a:ext>
            </a:extLst>
          </p:cNvPr>
          <p:cNvSpPr txBox="1"/>
          <p:nvPr/>
        </p:nvSpPr>
        <p:spPr>
          <a:xfrm>
            <a:off x="4134133" y="2750476"/>
            <a:ext cx="157529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Mean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E7BC5EC-C735-923C-94D2-3CCA42BB307F}"/>
              </a:ext>
            </a:extLst>
          </p:cNvPr>
          <p:cNvGrpSpPr/>
          <p:nvPr/>
        </p:nvGrpSpPr>
        <p:grpSpPr>
          <a:xfrm>
            <a:off x="5549178" y="1184979"/>
            <a:ext cx="3081995" cy="1461595"/>
            <a:chOff x="7115441" y="5354841"/>
            <a:chExt cx="4435006" cy="1417841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EBEF8D52-89BB-55D6-F33A-8DB7DCEA62ED}"/>
                </a:ext>
              </a:extLst>
            </p:cNvPr>
            <p:cNvSpPr/>
            <p:nvPr/>
          </p:nvSpPr>
          <p:spPr>
            <a:xfrm>
              <a:off x="7115441" y="5354841"/>
              <a:ext cx="4435006" cy="112333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D9301EE-446B-9816-D494-767366D7B0DB}"/>
                    </a:ext>
                  </a:extLst>
                </p:cNvPr>
                <p:cNvSpPr txBox="1"/>
                <p:nvPr/>
              </p:nvSpPr>
              <p:spPr>
                <a:xfrm>
                  <a:off x="7222840" y="5549590"/>
                  <a:ext cx="4220209" cy="12230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𝑟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!+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+3</m:t>
                                </m:r>
                              </m:e>
                            </m:d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1+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D9301EE-446B-9816-D494-767366D7B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840" y="5549590"/>
                  <a:ext cx="4220209" cy="122309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70872E9-E3FB-EA1F-9138-C9CD84751CD0}"/>
              </a:ext>
            </a:extLst>
          </p:cNvPr>
          <p:cNvSpPr txBox="1"/>
          <p:nvPr/>
        </p:nvSpPr>
        <p:spPr>
          <a:xfrm>
            <a:off x="5514880" y="722854"/>
            <a:ext cx="1575295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Moments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DDB7C18-B652-9166-51FA-825743FB0641}"/>
              </a:ext>
            </a:extLst>
          </p:cNvPr>
          <p:cNvGrpSpPr/>
          <p:nvPr/>
        </p:nvGrpSpPr>
        <p:grpSpPr>
          <a:xfrm>
            <a:off x="-9760" y="0"/>
            <a:ext cx="2223024" cy="6858000"/>
            <a:chOff x="-9760" y="0"/>
            <a:chExt cx="1941436" cy="685800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729668E-ACC6-756C-0894-89950FD99BC8}"/>
                </a:ext>
              </a:extLst>
            </p:cNvPr>
            <p:cNvSpPr txBox="1"/>
            <p:nvPr/>
          </p:nvSpPr>
          <p:spPr>
            <a:xfrm>
              <a:off x="-9760" y="0"/>
              <a:ext cx="192062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682BAA-474F-2FBE-64F3-76D7B220BAC7}"/>
                </a:ext>
              </a:extLst>
            </p:cNvPr>
            <p:cNvSpPr txBox="1"/>
            <p:nvPr/>
          </p:nvSpPr>
          <p:spPr>
            <a:xfrm>
              <a:off x="76794" y="2771635"/>
              <a:ext cx="185488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Palatino Linotype" panose="02040502050505030304" pitchFamily="18" charset="0"/>
                </a:rPr>
                <a:t>Statistical</a:t>
              </a:r>
            </a:p>
            <a:p>
              <a:r>
                <a:rPr lang="en-US" sz="3200" b="1" dirty="0">
                  <a:latin typeface="Palatino Linotype" panose="02040502050505030304" pitchFamily="18" charset="0"/>
                </a:rPr>
                <a:t>Measures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00A69BD-FAA3-354C-EDC7-76D52B30FA96}"/>
              </a:ext>
            </a:extLst>
          </p:cNvPr>
          <p:cNvGrpSpPr/>
          <p:nvPr/>
        </p:nvGrpSpPr>
        <p:grpSpPr>
          <a:xfrm>
            <a:off x="7417605" y="5434004"/>
            <a:ext cx="4435006" cy="1123336"/>
            <a:chOff x="7502370" y="5383441"/>
            <a:chExt cx="4435006" cy="1123336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D309CB33-D8E8-72AB-321C-AC07A0D2BE8C}"/>
                </a:ext>
              </a:extLst>
            </p:cNvPr>
            <p:cNvSpPr/>
            <p:nvPr/>
          </p:nvSpPr>
          <p:spPr>
            <a:xfrm>
              <a:off x="7502370" y="5383441"/>
              <a:ext cx="4435006" cy="112333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034F84D-8EC7-4801-9CFC-F48C24C9D077}"/>
                    </a:ext>
                  </a:extLst>
                </p:cNvPr>
                <p:cNvSpPr txBox="1"/>
                <p:nvPr/>
              </p:nvSpPr>
              <p:spPr>
                <a:xfrm>
                  <a:off x="7588800" y="5607663"/>
                  <a:ext cx="4220208" cy="6873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+192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+306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+216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+45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Yu Mincho" panose="02020400000000000000" pitchFamily="18" charset="-128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ea typeface="Yu Mincho" panose="02020400000000000000" pitchFamily="18" charset="-128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ea typeface="Yu Mincho" panose="02020400000000000000" pitchFamily="18" charset="-128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+8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+3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034F84D-8EC7-4801-9CFC-F48C24C9D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8800" y="5607663"/>
                  <a:ext cx="4220208" cy="6873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B76291DE-7807-94FD-B0D9-977C0BA27912}"/>
              </a:ext>
            </a:extLst>
          </p:cNvPr>
          <p:cNvSpPr txBox="1"/>
          <p:nvPr/>
        </p:nvSpPr>
        <p:spPr>
          <a:xfrm flipH="1">
            <a:off x="7417605" y="4967165"/>
            <a:ext cx="1623298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Kurtosis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1A1D30E-19FF-52A1-7BA0-6ED322D9D086}"/>
              </a:ext>
            </a:extLst>
          </p:cNvPr>
          <p:cNvGrpSpPr/>
          <p:nvPr/>
        </p:nvGrpSpPr>
        <p:grpSpPr>
          <a:xfrm>
            <a:off x="2877687" y="5410484"/>
            <a:ext cx="4212489" cy="1146856"/>
            <a:chOff x="2739351" y="5331323"/>
            <a:chExt cx="3849763" cy="1129220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8BD5E2BA-2D2C-3A0F-4598-073ED7FE139A}"/>
                </a:ext>
              </a:extLst>
            </p:cNvPr>
            <p:cNvSpPr/>
            <p:nvPr/>
          </p:nvSpPr>
          <p:spPr>
            <a:xfrm>
              <a:off x="2739351" y="5331323"/>
              <a:ext cx="3849763" cy="112333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E01A30D-D2B7-810C-68B1-C7C443D5FE21}"/>
                    </a:ext>
                  </a:extLst>
                </p:cNvPr>
                <p:cNvSpPr txBox="1"/>
                <p:nvPr/>
              </p:nvSpPr>
              <p:spPr>
                <a:xfrm>
                  <a:off x="2775779" y="5530801"/>
                  <a:ext cx="3663310" cy="929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+30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−63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+16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+8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+3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E01A30D-D2B7-810C-68B1-C7C443D5F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779" y="5530801"/>
                  <a:ext cx="3663310" cy="92974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4EADA291-6895-269C-5147-4AEBAEC6BB9A}"/>
              </a:ext>
            </a:extLst>
          </p:cNvPr>
          <p:cNvSpPr txBox="1"/>
          <p:nvPr/>
        </p:nvSpPr>
        <p:spPr>
          <a:xfrm>
            <a:off x="2906768" y="5012326"/>
            <a:ext cx="1699129" cy="51077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Skewness</a:t>
            </a:r>
          </a:p>
        </p:txBody>
      </p:sp>
    </p:spTree>
    <p:extLst>
      <p:ext uri="{BB962C8B-B14F-4D97-AF65-F5344CB8AC3E}">
        <p14:creationId xmlns:p14="http://schemas.microsoft.com/office/powerpoint/2010/main" val="217995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4" grpId="0"/>
      <p:bldP spid="55" grpId="0"/>
      <p:bldP spid="96" grpId="0"/>
      <p:bldP spid="1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A6716E-DEDC-854E-D917-E7395BB69AE5}"/>
                  </a:ext>
                </a:extLst>
              </p:cNvPr>
              <p:cNvSpPr txBox="1"/>
              <p:nvPr/>
            </p:nvSpPr>
            <p:spPr>
              <a:xfrm>
                <a:off x="4783512" y="1480890"/>
                <a:ext cx="4866640" cy="1396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likelihood function of EGD(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 distribution i</a:t>
                </a:r>
                <a:r>
                  <a:rPr lang="en-US" dirty="0">
                    <a:latin typeface="Palatino Linotype" panose="02040502050505030304" pitchFamily="18" charset="0"/>
                  </a:rPr>
                  <a:t>s;</a:t>
                </a:r>
              </a:p>
              <a:p>
                <a:endParaRPr lang="en-IN" sz="900" dirty="0">
                  <a:effectLst/>
                  <a:latin typeface="Palatino Linotype" panose="02040502050505030304" pitchFamily="18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;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= </m:t>
                          </m:r>
                          <m:nary>
                            <m:naryPr>
                              <m:chr m:val="∏"/>
                              <m:limLoc m:val="undOvr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A6716E-DEDC-854E-D917-E7395BB69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512" y="1480890"/>
                <a:ext cx="4866640" cy="1396151"/>
              </a:xfrm>
              <a:prstGeom prst="rect">
                <a:avLst/>
              </a:prstGeom>
              <a:blipFill>
                <a:blip r:embed="rId2"/>
                <a:stretch>
                  <a:fillRect l="-1128" t="-2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F0B134-D723-8036-A10A-106E065F462E}"/>
                  </a:ext>
                </a:extLst>
              </p:cNvPr>
              <p:cNvSpPr txBox="1"/>
              <p:nvPr/>
            </p:nvSpPr>
            <p:spPr>
              <a:xfrm>
                <a:off x="4783512" y="3208131"/>
                <a:ext cx="6573520" cy="1125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log-likelihood function is, </a:t>
                </a:r>
                <a:endParaRPr lang="en-IN" sz="1800" i="1" dirty="0">
                  <a:effectLst/>
                  <a:latin typeface="Palatino Linotype" panose="02040502050505030304" pitchFamily="18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𝑙𝑜𝑔𝐿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𝑛𝑙𝑜𝑔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𝑛𝑙𝑜𝑔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func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F0B134-D723-8036-A10A-106E065F4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512" y="3208131"/>
                <a:ext cx="6573520" cy="1125565"/>
              </a:xfrm>
              <a:prstGeom prst="rect">
                <a:avLst/>
              </a:prstGeom>
              <a:blipFill>
                <a:blip r:embed="rId3"/>
                <a:stretch>
                  <a:fillRect l="-83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051ABB1-3F1D-E386-E31D-589738EC175B}"/>
              </a:ext>
            </a:extLst>
          </p:cNvPr>
          <p:cNvSpPr/>
          <p:nvPr/>
        </p:nvSpPr>
        <p:spPr>
          <a:xfrm>
            <a:off x="0" y="0"/>
            <a:ext cx="12192000" cy="918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Parametric Estimation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CFC88B-E287-7C4A-ACF8-A36237383855}"/>
              </a:ext>
            </a:extLst>
          </p:cNvPr>
          <p:cNvGrpSpPr/>
          <p:nvPr/>
        </p:nvGrpSpPr>
        <p:grpSpPr>
          <a:xfrm>
            <a:off x="470131" y="1466286"/>
            <a:ext cx="2550160" cy="1148080"/>
            <a:chOff x="355600" y="1878429"/>
            <a:chExt cx="2550160" cy="11480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E6EAA11-F812-A54A-9EDB-6D00FD5CA706}"/>
                </a:ext>
              </a:extLst>
            </p:cNvPr>
            <p:cNvSpPr/>
            <p:nvPr/>
          </p:nvSpPr>
          <p:spPr>
            <a:xfrm>
              <a:off x="355600" y="1878429"/>
              <a:ext cx="2550160" cy="1148080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3D3601-41C9-5F9E-F458-9BC6F96185A9}"/>
                </a:ext>
              </a:extLst>
            </p:cNvPr>
            <p:cNvSpPr txBox="1"/>
            <p:nvPr/>
          </p:nvSpPr>
          <p:spPr>
            <a:xfrm>
              <a:off x="355600" y="2129304"/>
              <a:ext cx="255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Palatino Linotype" panose="02040502050505030304" pitchFamily="18" charset="0"/>
                </a:rPr>
                <a:t>Method of Maximum Likelihood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BFE9A9-B533-2739-4F47-07E55FC43A64}"/>
              </a:ext>
            </a:extLst>
          </p:cNvPr>
          <p:cNvCxnSpPr>
            <a:stCxn id="7" idx="3"/>
          </p:cNvCxnSpPr>
          <p:nvPr/>
        </p:nvCxnSpPr>
        <p:spPr>
          <a:xfrm flipV="1">
            <a:off x="3020291" y="2040326"/>
            <a:ext cx="1336040" cy="1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075B55-C23F-9382-7CAE-01C234C1EFFC}"/>
                  </a:ext>
                </a:extLst>
              </p:cNvPr>
              <p:cNvSpPr txBox="1"/>
              <p:nvPr/>
            </p:nvSpPr>
            <p:spPr>
              <a:xfrm>
                <a:off x="4783512" y="4735183"/>
                <a:ext cx="6982692" cy="1561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first partial derivative of log – likelihood function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075B55-C23F-9382-7CAE-01C234C1E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512" y="4735183"/>
                <a:ext cx="6982692" cy="1561133"/>
              </a:xfrm>
              <a:prstGeom prst="rect">
                <a:avLst/>
              </a:prstGeom>
              <a:blipFill>
                <a:blip r:embed="rId4"/>
                <a:stretch>
                  <a:fillRect l="-786" t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42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51ABB1-3F1D-E386-E31D-589738EC175B}"/>
              </a:ext>
            </a:extLst>
          </p:cNvPr>
          <p:cNvSpPr/>
          <p:nvPr/>
        </p:nvSpPr>
        <p:spPr>
          <a:xfrm>
            <a:off x="0" y="0"/>
            <a:ext cx="12192000" cy="918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Parametric Estimation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3851E3-7AE3-32D6-F371-B05D9ECE17F9}"/>
                  </a:ext>
                </a:extLst>
              </p:cNvPr>
              <p:cNvSpPr txBox="1"/>
              <p:nvPr/>
            </p:nvSpPr>
            <p:spPr>
              <a:xfrm>
                <a:off x="5026660" y="1236227"/>
                <a:ext cx="6982692" cy="1588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second partial derivative of log – likelihood function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  <m:t>1+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𝜃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3851E3-7AE3-32D6-F371-B05D9ECE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660" y="1236227"/>
                <a:ext cx="6982692" cy="1588384"/>
              </a:xfrm>
              <a:prstGeom prst="rect">
                <a:avLst/>
              </a:prstGeom>
              <a:blipFill>
                <a:blip r:embed="rId2"/>
                <a:stretch>
                  <a:fillRect l="-786" t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DB6C87-E160-7068-5AE1-E150CD33C56C}"/>
                  </a:ext>
                </a:extLst>
              </p:cNvPr>
              <p:cNvSpPr txBox="1"/>
              <p:nvPr/>
            </p:nvSpPr>
            <p:spPr>
              <a:xfrm>
                <a:off x="5026660" y="3429000"/>
                <a:ext cx="6165273" cy="956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i="0" dirty="0">
                    <a:solidFill>
                      <a:srgbClr val="202124"/>
                    </a:solidFill>
                    <a:effectLst/>
                    <a:latin typeface="Palatino Linotype" panose="02040502050505030304" pitchFamily="18" charset="0"/>
                  </a:rPr>
                  <a:t>It is one of the most widely used methods for </a:t>
                </a:r>
                <a:r>
                  <a:rPr lang="en-US" b="1" i="0" dirty="0">
                    <a:solidFill>
                      <a:srgbClr val="202124"/>
                    </a:solidFill>
                    <a:effectLst/>
                    <a:latin typeface="Palatino Linotype" panose="02040502050505030304" pitchFamily="18" charset="0"/>
                  </a:rPr>
                  <a:t>root finding</a:t>
                </a:r>
                <a:r>
                  <a:rPr lang="en-US" b="0" i="0" dirty="0">
                    <a:solidFill>
                      <a:srgbClr val="202124"/>
                    </a:solidFill>
                    <a:effectLst/>
                    <a:latin typeface="Palatino Linotype" panose="02040502050505030304" pitchFamily="18" charset="0"/>
                  </a:rPr>
                  <a:t>.</a:t>
                </a:r>
                <a:endParaRPr lang="en-US" b="0" i="1" dirty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DB6C87-E160-7068-5AE1-E150CD33C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660" y="3429000"/>
                <a:ext cx="6165273" cy="956031"/>
              </a:xfrm>
              <a:prstGeom prst="rect">
                <a:avLst/>
              </a:prstGeom>
              <a:blipFill>
                <a:blip r:embed="rId3"/>
                <a:stretch>
                  <a:fillRect l="-890" t="-384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EB52A83-3258-7A1B-B8F8-595F2E630EFB}"/>
              </a:ext>
            </a:extLst>
          </p:cNvPr>
          <p:cNvGrpSpPr/>
          <p:nvPr/>
        </p:nvGrpSpPr>
        <p:grpSpPr>
          <a:xfrm>
            <a:off x="779318" y="5337280"/>
            <a:ext cx="2550160" cy="1148080"/>
            <a:chOff x="436880" y="4460642"/>
            <a:chExt cx="2550160" cy="114808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F323729-21E3-142A-0008-EA57A7ADBD04}"/>
                </a:ext>
              </a:extLst>
            </p:cNvPr>
            <p:cNvSpPr/>
            <p:nvPr/>
          </p:nvSpPr>
          <p:spPr>
            <a:xfrm>
              <a:off x="436880" y="4460642"/>
              <a:ext cx="2550160" cy="1148080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E6B004-4C49-0511-2EA7-EFD10548B6AD}"/>
                </a:ext>
              </a:extLst>
            </p:cNvPr>
            <p:cNvSpPr txBox="1"/>
            <p:nvPr/>
          </p:nvSpPr>
          <p:spPr>
            <a:xfrm>
              <a:off x="436880" y="4850016"/>
              <a:ext cx="255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Palatino Linotype" panose="02040502050505030304" pitchFamily="18" charset="0"/>
                </a:rPr>
                <a:t>Method of Moments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A8A27E-03FF-E3F6-55BE-7741CC05B81E}"/>
                  </a:ext>
                </a:extLst>
              </p:cNvPr>
              <p:cNvSpPr txBox="1"/>
              <p:nvPr/>
            </p:nvSpPr>
            <p:spPr>
              <a:xfrm>
                <a:off x="5026660" y="5218662"/>
                <a:ext cx="5862320" cy="1385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Palatino Linotype" panose="02040502050505030304" pitchFamily="18" charset="0"/>
                    <a:ea typeface="Yu Mincho" panose="02020400000000000000" pitchFamily="18" charset="-128"/>
                    <a:cs typeface="Times New Roman" panose="02020603050405020304" pitchFamily="18" charset="0"/>
                  </a:rPr>
                  <a:t>Equating sample mean with population mean we get;</a:t>
                </a:r>
              </a:p>
              <a:p>
                <a:endParaRPr lang="en-US" sz="900" dirty="0">
                  <a:effectLst/>
                  <a:latin typeface="Palatino Linotype" panose="02040502050505030304" pitchFamily="18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−(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−1)± </m:t>
                          </m:r>
                          <m:rad>
                            <m:radPr>
                              <m:degHide m:val="on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−1)</m:t>
                                  </m:r>
                                </m:e>
                                <m:sup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+12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rad>
                        </m:num>
                        <m:den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2A8A27E-03FF-E3F6-55BE-7741CC05B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660" y="5218662"/>
                <a:ext cx="5862320" cy="1385316"/>
              </a:xfrm>
              <a:prstGeom prst="rect">
                <a:avLst/>
              </a:prstGeom>
              <a:blipFill>
                <a:blip r:embed="rId4"/>
                <a:stretch>
                  <a:fillRect l="-937" t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77ED83-44A9-F1D1-C2D1-99EC3E4B93BD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3329478" y="5911320"/>
            <a:ext cx="1697182" cy="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4CEA61-BEC3-96F5-13E1-785ECEEC59F1}"/>
              </a:ext>
            </a:extLst>
          </p:cNvPr>
          <p:cNvGrpSpPr/>
          <p:nvPr/>
        </p:nvGrpSpPr>
        <p:grpSpPr>
          <a:xfrm>
            <a:off x="779318" y="3328140"/>
            <a:ext cx="2550160" cy="1148080"/>
            <a:chOff x="436880" y="4460642"/>
            <a:chExt cx="2550160" cy="114808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2F24A82-F8B7-F73B-744D-840645ACFA58}"/>
                </a:ext>
              </a:extLst>
            </p:cNvPr>
            <p:cNvSpPr/>
            <p:nvPr/>
          </p:nvSpPr>
          <p:spPr>
            <a:xfrm>
              <a:off x="436880" y="4460642"/>
              <a:ext cx="2550160" cy="1148080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A2F4045-5B34-2E6C-F9B9-718AE175ABED}"/>
                </a:ext>
              </a:extLst>
            </p:cNvPr>
            <p:cNvSpPr txBox="1"/>
            <p:nvPr/>
          </p:nvSpPr>
          <p:spPr>
            <a:xfrm>
              <a:off x="436880" y="4703189"/>
              <a:ext cx="255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Palatino Linotype" panose="02040502050505030304" pitchFamily="18" charset="0"/>
                </a:rPr>
                <a:t>Newton Raphson Method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AAD0B0-C434-A70F-A955-621473C46996}"/>
              </a:ext>
            </a:extLst>
          </p:cNvPr>
          <p:cNvCxnSpPr>
            <a:cxnSpLocks/>
            <a:stCxn id="28" idx="3"/>
            <a:endCxn id="16" idx="1"/>
          </p:cNvCxnSpPr>
          <p:nvPr/>
        </p:nvCxnSpPr>
        <p:spPr>
          <a:xfrm>
            <a:off x="3329478" y="3893853"/>
            <a:ext cx="1697182" cy="13163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42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66CA8F-8EAB-80DA-BB0B-505B568B3773}"/>
              </a:ext>
            </a:extLst>
          </p:cNvPr>
          <p:cNvSpPr txBox="1"/>
          <p:nvPr/>
        </p:nvSpPr>
        <p:spPr>
          <a:xfrm>
            <a:off x="426024" y="1086527"/>
            <a:ext cx="10390912" cy="1874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Kolmogorov-Smirnov Goodness of Fit Test (K-S test)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			H</a:t>
            </a:r>
            <a:r>
              <a:rPr lang="en-IN" sz="1800" baseline="-250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 The data comes from the specified distribution.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					v/s</a:t>
            </a:r>
            <a:endParaRPr lang="en-US" dirty="0">
              <a:solidFill>
                <a:srgbClr val="000000"/>
              </a:solidFill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			H</a:t>
            </a:r>
            <a:r>
              <a:rPr lang="en-IN" sz="1800" baseline="-250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data does not follow the 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specified distribution.</a:t>
            </a:r>
            <a:endParaRPr lang="en-US" sz="1800" dirty="0">
              <a:solidFill>
                <a:srgbClr val="000000"/>
              </a:solidFill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991FB9-1F74-9468-ABD7-0CA667329737}"/>
                  </a:ext>
                </a:extLst>
              </p:cNvPr>
              <p:cNvSpPr txBox="1"/>
              <p:nvPr/>
            </p:nvSpPr>
            <p:spPr>
              <a:xfrm>
                <a:off x="519550" y="4382498"/>
                <a:ext cx="5936673" cy="997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  <a:r>
                  <a:rPr lang="en-IN" sz="1800" dirty="0">
                    <a:effectLst/>
                    <a:latin typeface="Times New Roman" panose="02020603050405020304" pitchFamily="18" charset="0"/>
                    <a:ea typeface="Yu Mincho" panose="02020400000000000000" pitchFamily="18" charset="-128"/>
                    <a:cs typeface="Arial" panose="020B0604020202020204" pitchFamily="34" charset="0"/>
                  </a:rPr>
                  <a:t>K-S Critical:-   At level of significance; 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=0.05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IN" sz="1800" dirty="0">
                    <a:effectLst/>
                    <a:latin typeface="Times New Roman" panose="02020603050405020304" pitchFamily="18" charset="0"/>
                    <a:ea typeface="Yu Mincho" panose="02020400000000000000" pitchFamily="18" charset="-128"/>
                    <a:cs typeface="Arial" panose="020B0604020202020204" pitchFamily="34" charset="0"/>
                  </a:rPr>
                  <a:t>		Critical 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1.36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991FB9-1F74-9468-ABD7-0CA667329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50" y="4382498"/>
                <a:ext cx="5936673" cy="997196"/>
              </a:xfrm>
              <a:prstGeom prst="rect">
                <a:avLst/>
              </a:prstGeom>
              <a:blipFill>
                <a:blip r:embed="rId2"/>
                <a:stretch>
                  <a:fillRect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0B623-CF8C-C3E1-CD41-5268948B017B}"/>
                  </a:ext>
                </a:extLst>
              </p:cNvPr>
              <p:cNvSpPr txBox="1"/>
              <p:nvPr/>
            </p:nvSpPr>
            <p:spPr>
              <a:xfrm>
                <a:off x="519550" y="2876477"/>
                <a:ext cx="9060868" cy="1255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K-S Calculated:- </a:t>
                </a:r>
                <a:r>
                  <a:rPr lang="en-IN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 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𝐷𝑛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 =</m:t>
                    </m:r>
                    <m:func>
                      <m:func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1800" i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en-IN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800"/>
                  </a:spcAft>
                </a:pPr>
                <a:r>
                  <a:rPr lang="en-IN" sz="1800" dirty="0">
                    <a:solidFill>
                      <a:srgbClr val="000000"/>
                    </a:solidFill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</a:rPr>
                  <a:t>		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𝑒𝑙𝑒𝑚𝑒𝑛𝑡𝑠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0B623-CF8C-C3E1-CD41-5268948B0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50" y="2876477"/>
                <a:ext cx="9060868" cy="1255472"/>
              </a:xfrm>
              <a:prstGeom prst="rect">
                <a:avLst/>
              </a:prstGeom>
              <a:blipFill>
                <a:blip r:embed="rId3"/>
                <a:stretch>
                  <a:fillRect l="-538" b="-2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4122C8-579C-2DE9-CB64-759C0556029D}"/>
                  </a:ext>
                </a:extLst>
              </p:cNvPr>
              <p:cNvSpPr txBox="1"/>
              <p:nvPr/>
            </p:nvSpPr>
            <p:spPr>
              <a:xfrm>
                <a:off x="519550" y="5630243"/>
                <a:ext cx="56249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Palatino Linotype" panose="020405020505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Conclusion:-  </a:t>
                </a:r>
              </a:p>
              <a:p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Reject 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0</a:t>
                </a:r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if, K-S Calculated 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 ≥</m:t>
                    </m:r>
                  </m:oMath>
                </a14:m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K-S Critical</a:t>
                </a:r>
                <a:endParaRPr lang="en-US" sz="18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4122C8-579C-2DE9-CB64-759C05560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50" y="5630243"/>
                <a:ext cx="5624940" cy="923330"/>
              </a:xfrm>
              <a:prstGeom prst="rect">
                <a:avLst/>
              </a:prstGeom>
              <a:blipFill>
                <a:blip r:embed="rId4"/>
                <a:stretch>
                  <a:fillRect l="-867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BC7769DB-EA5C-5B73-A307-EE755841B872}"/>
              </a:ext>
            </a:extLst>
          </p:cNvPr>
          <p:cNvSpPr/>
          <p:nvPr/>
        </p:nvSpPr>
        <p:spPr>
          <a:xfrm>
            <a:off x="0" y="0"/>
            <a:ext cx="12192000" cy="918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Goodness of Fit </a:t>
            </a:r>
          </a:p>
        </p:txBody>
      </p:sp>
    </p:spTree>
    <p:extLst>
      <p:ext uri="{BB962C8B-B14F-4D97-AF65-F5344CB8AC3E}">
        <p14:creationId xmlns:p14="http://schemas.microsoft.com/office/powerpoint/2010/main" val="316803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C7769DB-EA5C-5B73-A307-EE755841B872}"/>
              </a:ext>
            </a:extLst>
          </p:cNvPr>
          <p:cNvSpPr/>
          <p:nvPr/>
        </p:nvSpPr>
        <p:spPr>
          <a:xfrm>
            <a:off x="0" y="0"/>
            <a:ext cx="12192000" cy="9188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Goodness of Fit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EB262-DE54-0A1D-804B-F32B466E2B75}"/>
              </a:ext>
            </a:extLst>
          </p:cNvPr>
          <p:cNvSpPr txBox="1"/>
          <p:nvPr/>
        </p:nvSpPr>
        <p:spPr>
          <a:xfrm>
            <a:off x="2241840" y="1971297"/>
            <a:ext cx="7564580" cy="1324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AIC= 2k - 2ln(L)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Palatino Linotype" panose="02040502050505030304" pitchFamily="18" charset="0"/>
                <a:ea typeface="Times New Roman" panose="02020603050405020304" pitchFamily="18" charset="0"/>
              </a:rPr>
              <a:t>w</a:t>
            </a:r>
            <a:r>
              <a:rPr lang="en-IN" sz="18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here, </a:t>
            </a:r>
            <a:r>
              <a:rPr lang="en-IN" sz="1800" b="1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k</a:t>
            </a:r>
            <a:r>
              <a:rPr lang="en-IN" sz="18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 is the number of independent variables used by default k is 2</a:t>
            </a:r>
            <a:endParaRPr lang="en-US" sz="1800" dirty="0"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            L</a:t>
            </a:r>
            <a:r>
              <a:rPr lang="en-IN" sz="18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 is the likelihood estimate</a:t>
            </a:r>
            <a:endParaRPr lang="en-US" sz="1800" dirty="0"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F904A-36E8-2AE5-9F18-8A69DDB10DF8}"/>
              </a:ext>
            </a:extLst>
          </p:cNvPr>
          <p:cNvSpPr txBox="1"/>
          <p:nvPr/>
        </p:nvSpPr>
        <p:spPr>
          <a:xfrm>
            <a:off x="2241840" y="4178304"/>
            <a:ext cx="7195704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BIC=k ln(n)-2ln(L)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</a:rPr>
              <a:t>wh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ere </a:t>
            </a:r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n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is the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sample size</a:t>
            </a:r>
            <a:endParaRPr lang="en-US" sz="1800" dirty="0"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      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    </a:t>
            </a:r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k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is the number of </a:t>
            </a:r>
            <a:r>
              <a:rPr lang="en-IN" sz="180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parameters 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which your model estimates </a:t>
            </a:r>
            <a:endParaRPr lang="en-US" sz="1800" dirty="0"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           </a:t>
            </a:r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L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is the likelihood estimate</a:t>
            </a:r>
            <a:endParaRPr lang="en-US" sz="1800" dirty="0"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4E019-E710-A302-007F-0C3DF3FA76F3}"/>
              </a:ext>
            </a:extLst>
          </p:cNvPr>
          <p:cNvSpPr txBox="1"/>
          <p:nvPr/>
        </p:nvSpPr>
        <p:spPr>
          <a:xfrm>
            <a:off x="841664" y="1423403"/>
            <a:ext cx="440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Akaike Information Criterion (</a:t>
            </a:r>
            <a:r>
              <a:rPr lang="en-US" sz="1800" b="1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AIC)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4D851-8B5E-C4EB-F571-310F45957AD3}"/>
              </a:ext>
            </a:extLst>
          </p:cNvPr>
          <p:cNvSpPr txBox="1"/>
          <p:nvPr/>
        </p:nvSpPr>
        <p:spPr>
          <a:xfrm>
            <a:off x="841664" y="3531973"/>
            <a:ext cx="4187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Bayesian Information Criterion (BIC)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98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5E5E0D-642E-32E9-AB7F-A3F50C6B2789}"/>
              </a:ext>
            </a:extLst>
          </p:cNvPr>
          <p:cNvSpPr/>
          <p:nvPr/>
        </p:nvSpPr>
        <p:spPr>
          <a:xfrm>
            <a:off x="1" y="-58993"/>
            <a:ext cx="12192000" cy="1173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 panose="02040502050505030304" pitchFamily="18" charset="0"/>
              </a:rPr>
              <a:t>Data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5E6D5-53DD-EE9A-C0DE-77A7348E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451" y="1319919"/>
            <a:ext cx="9148930" cy="44860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265213-5226-7CA3-2957-CA2098F6B220}"/>
              </a:ext>
            </a:extLst>
          </p:cNvPr>
          <p:cNvSpPr txBox="1"/>
          <p:nvPr/>
        </p:nvSpPr>
        <p:spPr>
          <a:xfrm>
            <a:off x="1662545" y="5974773"/>
            <a:ext cx="950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The variables considered are: 1)Time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		               	     2) Status (containing value 2 i.e. dead)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C72CB-39B5-6087-2ED3-BCB9A01B5472}"/>
              </a:ext>
            </a:extLst>
          </p:cNvPr>
          <p:cNvSpPr/>
          <p:nvPr/>
        </p:nvSpPr>
        <p:spPr>
          <a:xfrm>
            <a:off x="1387451" y="1319919"/>
            <a:ext cx="1438876" cy="44860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364B71-B998-5011-49DD-EA972311FC24}"/>
              </a:ext>
            </a:extLst>
          </p:cNvPr>
          <p:cNvSpPr/>
          <p:nvPr/>
        </p:nvSpPr>
        <p:spPr>
          <a:xfrm>
            <a:off x="4551218" y="1319919"/>
            <a:ext cx="5985163" cy="44860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B34C8-6C38-9E9C-13C8-547522B1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900" y="1683818"/>
            <a:ext cx="1435436" cy="37211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DA5B4579-4D36-CDA1-0541-BE5640212DD3}"/>
              </a:ext>
            </a:extLst>
          </p:cNvPr>
          <p:cNvSpPr/>
          <p:nvPr/>
        </p:nvSpPr>
        <p:spPr>
          <a:xfrm>
            <a:off x="5360219" y="3127664"/>
            <a:ext cx="1558636" cy="4572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5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9959D-1D60-963D-0F18-B644E650D116}"/>
                  </a:ext>
                </a:extLst>
              </p:cNvPr>
              <p:cNvSpPr/>
              <p:nvPr/>
            </p:nvSpPr>
            <p:spPr>
              <a:xfrm>
                <a:off x="1" y="-55649"/>
                <a:ext cx="12257689" cy="1107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IN" sz="4000" b="1" dirty="0">
                    <a:solidFill>
                      <a:srgbClr val="1B3728"/>
                    </a:solidFill>
                    <a:latin typeface="Palatino Linotype"/>
                  </a:rPr>
                  <a:t>Statistical Summary of EGD(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rgbClr val="1B3728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sz="4000" b="1" i="1" smtClean="0">
                        <a:solidFill>
                          <a:srgbClr val="1B372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4000" b="1" dirty="0">
                    <a:solidFill>
                      <a:srgbClr val="1B3728"/>
                    </a:solidFill>
                    <a:latin typeface="Palatino Linotype"/>
                  </a:rPr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9959D-1D60-963D-0F18-B644E650D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-55649"/>
                <a:ext cx="12257689" cy="1107329"/>
              </a:xfrm>
              <a:prstGeom prst="rect">
                <a:avLst/>
              </a:prstGeom>
              <a:blipFill>
                <a:blip r:embed="rId2"/>
                <a:stretch>
                  <a:fillRect b="-49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B49A54D-E03E-04C8-09F1-5475A5708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5" y="2139523"/>
            <a:ext cx="5569816" cy="3666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B3FDCC7-8B62-286B-9747-0D89A04553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8434221"/>
                  </p:ext>
                </p:extLst>
              </p:nvPr>
            </p:nvGraphicFramePr>
            <p:xfrm>
              <a:off x="6550918" y="1428751"/>
              <a:ext cx="4631979" cy="3403565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2297458">
                      <a:extLst>
                        <a:ext uri="{9D8B030D-6E8A-4147-A177-3AD203B41FA5}">
                          <a16:colId xmlns:a16="http://schemas.microsoft.com/office/drawing/2014/main" val="1200340902"/>
                        </a:ext>
                      </a:extLst>
                    </a:gridCol>
                    <a:gridCol w="2334521">
                      <a:extLst>
                        <a:ext uri="{9D8B030D-6E8A-4147-A177-3AD203B41FA5}">
                          <a16:colId xmlns:a16="http://schemas.microsoft.com/office/drawing/2014/main" val="2105658600"/>
                        </a:ext>
                      </a:extLst>
                    </a:gridCol>
                  </a:tblGrid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659386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MIN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5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5236817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MAX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883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9328140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MEAN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275.6372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0144897"/>
                      </a:ext>
                    </a:extLst>
                  </a:tr>
                  <a:tr h="50969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VARIANCE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25869.3676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692847"/>
                      </a:ext>
                    </a:extLst>
                  </a:tr>
                  <a:tr h="4831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SKEWNESS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4.964320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4322379"/>
                      </a:ext>
                    </a:extLst>
                  </a:tr>
                  <a:tr h="50969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KURTOSIS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4.9722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9274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B3FDCC7-8B62-286B-9747-0D89A04553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8434221"/>
                  </p:ext>
                </p:extLst>
              </p:nvPr>
            </p:nvGraphicFramePr>
            <p:xfrm>
              <a:off x="6550918" y="1428751"/>
              <a:ext cx="4631979" cy="3403565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2297458">
                      <a:extLst>
                        <a:ext uri="{9D8B030D-6E8A-4147-A177-3AD203B41FA5}">
                          <a16:colId xmlns:a16="http://schemas.microsoft.com/office/drawing/2014/main" val="1200340902"/>
                        </a:ext>
                      </a:extLst>
                    </a:gridCol>
                    <a:gridCol w="2334521">
                      <a:extLst>
                        <a:ext uri="{9D8B030D-6E8A-4147-A177-3AD203B41FA5}">
                          <a16:colId xmlns:a16="http://schemas.microsoft.com/office/drawing/2014/main" val="2105658600"/>
                        </a:ext>
                      </a:extLst>
                    </a:gridCol>
                  </a:tblGrid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165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5659386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MIN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5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45236817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MAX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883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9328140"/>
                      </a:ext>
                    </a:extLst>
                  </a:tr>
                  <a:tr h="475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MEAN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275.6372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0144897"/>
                      </a:ext>
                    </a:extLst>
                  </a:tr>
                  <a:tr h="50969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VARIANCE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25869.3676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692847"/>
                      </a:ext>
                    </a:extLst>
                  </a:tr>
                  <a:tr h="4831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502532" r="-102387" b="-111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4.964320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4322379"/>
                      </a:ext>
                    </a:extLst>
                  </a:tr>
                  <a:tr h="5096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5" t="-566667" r="-102387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4.9722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9274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76785D-219F-ADAA-F172-A28DAF825231}"/>
                  </a:ext>
                </a:extLst>
              </p:cNvPr>
              <p:cNvSpPr txBox="1"/>
              <p:nvPr/>
            </p:nvSpPr>
            <p:spPr>
              <a:xfrm>
                <a:off x="5933207" y="5080831"/>
                <a:ext cx="5867400" cy="145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,this implies that the distribution is positively skewed.</a:t>
                </a:r>
                <a:endParaRPr lang="en-US" sz="18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&gt;3 </m:t>
                    </m:r>
                  </m:oMath>
                </a14:m>
                <a:r>
                  <a:rPr lang="en-US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this implies that the distribution is leptokurtic.</a:t>
                </a:r>
                <a:endParaRPr lang="en-US" sz="18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76785D-219F-ADAA-F172-A28DAF825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207" y="5080831"/>
                <a:ext cx="5867400" cy="1450975"/>
              </a:xfrm>
              <a:prstGeom prst="rect">
                <a:avLst/>
              </a:prstGeom>
              <a:blipFill>
                <a:blip r:embed="rId5"/>
                <a:stretch>
                  <a:fillRect l="-831" t="-420" r="-8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05CC21-4E40-60BE-F1B4-1083E1E95CA6}"/>
              </a:ext>
            </a:extLst>
          </p:cNvPr>
          <p:cNvSpPr/>
          <p:nvPr/>
        </p:nvSpPr>
        <p:spPr>
          <a:xfrm>
            <a:off x="1" y="-55649"/>
            <a:ext cx="12257689" cy="1107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/>
              </a:rPr>
              <a:t>Model Selection</a:t>
            </a:r>
            <a:endParaRPr lang="en-US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7173902-70E0-CC79-2A4D-BCAD1094B13F}"/>
              </a:ext>
            </a:extLst>
          </p:cNvPr>
          <p:cNvCxnSpPr>
            <a:cxnSpLocks/>
            <a:stCxn id="4" idx="4"/>
            <a:endCxn id="91" idx="2"/>
          </p:cNvCxnSpPr>
          <p:nvPr/>
        </p:nvCxnSpPr>
        <p:spPr>
          <a:xfrm rot="16200000" flipH="1">
            <a:off x="585033" y="3020021"/>
            <a:ext cx="1964764" cy="1430488"/>
          </a:xfrm>
          <a:prstGeom prst="curved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B512E821-D2EF-7FCB-DA1E-D8C2ACA9469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3294280" y="2923190"/>
            <a:ext cx="2106750" cy="1794457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B3240D5-D6D5-E2BA-BFA4-9619A9E94BBD}"/>
              </a:ext>
            </a:extLst>
          </p:cNvPr>
          <p:cNvCxnSpPr>
            <a:cxnSpLocks/>
            <a:stCxn id="98" idx="6"/>
            <a:endCxn id="105" idx="2"/>
          </p:cNvCxnSpPr>
          <p:nvPr/>
        </p:nvCxnSpPr>
        <p:spPr>
          <a:xfrm>
            <a:off x="6412651" y="2923190"/>
            <a:ext cx="1524045" cy="1824270"/>
          </a:xfrm>
          <a:prstGeom prst="curvedConnector3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DACFF90-9689-7E27-92A7-CEC06D20D1C0}"/>
                  </a:ext>
                </a:extLst>
              </p:cNvPr>
              <p:cNvSpPr txBox="1"/>
              <p:nvPr/>
            </p:nvSpPr>
            <p:spPr>
              <a:xfrm>
                <a:off x="1388001" y="1804738"/>
                <a:ext cx="22208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Palatino Linotype" panose="02040502050505030304" pitchFamily="18" charset="0"/>
                  </a:rPr>
                  <a:t>To check if EGD(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latin typeface="Palatino Linotype" panose="02040502050505030304" pitchFamily="18" charset="0"/>
                  </a:rPr>
                  <a:t>) fits the best to the given data 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DACFF90-9689-7E27-92A7-CEC06D20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001" y="1804738"/>
                <a:ext cx="2220848" cy="923330"/>
              </a:xfrm>
              <a:prstGeom prst="rect">
                <a:avLst/>
              </a:prstGeom>
              <a:blipFill>
                <a:blip r:embed="rId2"/>
                <a:stretch>
                  <a:fillRect t="-3289" r="-164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EEA22EB4-B6E0-371F-4EC7-B7892E81CDFD}"/>
              </a:ext>
            </a:extLst>
          </p:cNvPr>
          <p:cNvSpPr txBox="1"/>
          <p:nvPr/>
        </p:nvSpPr>
        <p:spPr>
          <a:xfrm>
            <a:off x="1567415" y="5253270"/>
            <a:ext cx="2398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Considering 2 more distributions of the similar type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52537A-1E6B-9A38-6B45-3931ADD898DC}"/>
              </a:ext>
            </a:extLst>
          </p:cNvPr>
          <p:cNvSpPr txBox="1"/>
          <p:nvPr/>
        </p:nvSpPr>
        <p:spPr>
          <a:xfrm>
            <a:off x="6128845" y="1940795"/>
            <a:ext cx="2474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Estimating the required parameters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1CED4B-1CEE-981F-8DA4-4FF93B8C3ABA}"/>
              </a:ext>
            </a:extLst>
          </p:cNvPr>
          <p:cNvSpPr txBox="1"/>
          <p:nvPr/>
        </p:nvSpPr>
        <p:spPr>
          <a:xfrm>
            <a:off x="9071512" y="3881144"/>
            <a:ext cx="3478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IN" sz="18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omparing the distributions using the criteria for selecting the best model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Palatino Linotype" panose="02040502050505030304" pitchFamily="18" charset="0"/>
              </a:rPr>
              <a:t>K-S Goodness of Fit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Palatino Linotype" panose="02040502050505030304" pitchFamily="18" charset="0"/>
              </a:rPr>
              <a:t>Log - Likelihood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Palatino Linotype" panose="02040502050505030304" pitchFamily="18" charset="0"/>
              </a:rPr>
              <a:t>AIC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Palatino Linotype" panose="02040502050505030304" pitchFamily="18" charset="0"/>
              </a:rPr>
              <a:t>BIC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Palatino Linotype" panose="02040502050505030304" pitchFamily="18" charset="0"/>
              </a:rPr>
              <a:t>P-P Plot</a:t>
            </a:r>
            <a:endParaRPr lang="en-US" dirty="0">
              <a:latin typeface="Palatino Linotype" panose="0204050205050503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084940-F776-030B-908E-6AA355084DB4}"/>
              </a:ext>
            </a:extLst>
          </p:cNvPr>
          <p:cNvGrpSpPr/>
          <p:nvPr/>
        </p:nvGrpSpPr>
        <p:grpSpPr>
          <a:xfrm>
            <a:off x="346360" y="1741262"/>
            <a:ext cx="1011621" cy="1011621"/>
            <a:chOff x="460586" y="1845879"/>
            <a:chExt cx="1011621" cy="101162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43E760D-2D6A-47E1-88E7-020FF16F39D0}"/>
                </a:ext>
              </a:extLst>
            </p:cNvPr>
            <p:cNvSpPr/>
            <p:nvPr/>
          </p:nvSpPr>
          <p:spPr>
            <a:xfrm>
              <a:off x="460586" y="1845879"/>
              <a:ext cx="1011621" cy="10116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0BA62EC-5EDD-D3B7-9653-9BC183D3391E}"/>
                </a:ext>
              </a:extLst>
            </p:cNvPr>
            <p:cNvSpPr txBox="1"/>
            <p:nvPr/>
          </p:nvSpPr>
          <p:spPr>
            <a:xfrm>
              <a:off x="737236" y="2028523"/>
              <a:ext cx="616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Algerian" panose="04020705040A02060702" pitchFamily="82" charset="0"/>
                </a:rPr>
                <a:t>1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B40B397-3EA1-548A-4447-F78A7B609F2A}"/>
              </a:ext>
            </a:extLst>
          </p:cNvPr>
          <p:cNvGrpSpPr/>
          <p:nvPr/>
        </p:nvGrpSpPr>
        <p:grpSpPr>
          <a:xfrm>
            <a:off x="2282659" y="4211836"/>
            <a:ext cx="1011621" cy="1011621"/>
            <a:chOff x="460586" y="1845879"/>
            <a:chExt cx="1011621" cy="1011621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E5E5734-C61F-CEE9-2AB3-4392A7C31FD2}"/>
                </a:ext>
              </a:extLst>
            </p:cNvPr>
            <p:cNvSpPr/>
            <p:nvPr/>
          </p:nvSpPr>
          <p:spPr>
            <a:xfrm>
              <a:off x="460586" y="1845879"/>
              <a:ext cx="1011621" cy="10116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D52FC0B-F464-F5C3-0038-5F4AEED50899}"/>
                </a:ext>
              </a:extLst>
            </p:cNvPr>
            <p:cNvSpPr txBox="1"/>
            <p:nvPr/>
          </p:nvSpPr>
          <p:spPr>
            <a:xfrm>
              <a:off x="737236" y="2028523"/>
              <a:ext cx="616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Algerian" panose="04020705040A02060702" pitchFamily="82" charset="0"/>
                </a:rPr>
                <a:t>2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F4C38F9-0CB4-DD93-887B-C171E12EE64E}"/>
              </a:ext>
            </a:extLst>
          </p:cNvPr>
          <p:cNvGrpSpPr/>
          <p:nvPr/>
        </p:nvGrpSpPr>
        <p:grpSpPr>
          <a:xfrm>
            <a:off x="5401030" y="2417379"/>
            <a:ext cx="1011621" cy="1011621"/>
            <a:chOff x="460586" y="1845879"/>
            <a:chExt cx="1011621" cy="1011621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B0012BC-E7F7-3A9F-504E-CAA8EAF9622A}"/>
                </a:ext>
              </a:extLst>
            </p:cNvPr>
            <p:cNvSpPr/>
            <p:nvPr/>
          </p:nvSpPr>
          <p:spPr>
            <a:xfrm>
              <a:off x="460586" y="1845879"/>
              <a:ext cx="1011621" cy="10116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3C2FAA8-9764-6CDC-9F60-9379D2A57ED5}"/>
                </a:ext>
              </a:extLst>
            </p:cNvPr>
            <p:cNvSpPr txBox="1"/>
            <p:nvPr/>
          </p:nvSpPr>
          <p:spPr>
            <a:xfrm>
              <a:off x="737236" y="2028523"/>
              <a:ext cx="616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Algerian" panose="04020705040A02060702" pitchFamily="82" charset="0"/>
                </a:rPr>
                <a:t>3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A2E2A3D-4685-800D-3F69-B1D02875F856}"/>
              </a:ext>
            </a:extLst>
          </p:cNvPr>
          <p:cNvGrpSpPr/>
          <p:nvPr/>
        </p:nvGrpSpPr>
        <p:grpSpPr>
          <a:xfrm>
            <a:off x="7936696" y="4241649"/>
            <a:ext cx="1011621" cy="1011621"/>
            <a:chOff x="460586" y="1845879"/>
            <a:chExt cx="1011621" cy="1011621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5930509-B430-6762-E61B-38B9FBCB5B13}"/>
                </a:ext>
              </a:extLst>
            </p:cNvPr>
            <p:cNvSpPr/>
            <p:nvPr/>
          </p:nvSpPr>
          <p:spPr>
            <a:xfrm>
              <a:off x="460586" y="1845879"/>
              <a:ext cx="1011621" cy="10116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BD114E6-89D4-18BF-A825-182FC5086A96}"/>
                </a:ext>
              </a:extLst>
            </p:cNvPr>
            <p:cNvSpPr txBox="1"/>
            <p:nvPr/>
          </p:nvSpPr>
          <p:spPr>
            <a:xfrm>
              <a:off x="737236" y="2028523"/>
              <a:ext cx="616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Algerian" panose="04020705040A02060702" pitchFamily="82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89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6" grpId="0"/>
      <p:bldP spid="77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17F85C-F058-BFEF-639E-9132DD5A6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565" y="1286766"/>
            <a:ext cx="4008091" cy="26368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4B979-F180-7DB5-46DA-26C41CB3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345" y="1175839"/>
            <a:ext cx="4176705" cy="2747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B05072-DCF8-70C4-D666-17B52BD0D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647" y="4047757"/>
            <a:ext cx="4176705" cy="27477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3659C9-CE50-8232-95FF-B6810B5D3D02}"/>
              </a:ext>
            </a:extLst>
          </p:cNvPr>
          <p:cNvSpPr/>
          <p:nvPr/>
        </p:nvSpPr>
        <p:spPr>
          <a:xfrm>
            <a:off x="1" y="-55649"/>
            <a:ext cx="12257689" cy="1107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/>
              </a:rPr>
              <a:t>Graphical Representation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77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5A3A19-BAE5-5BA6-ED67-8BB6A81C2A14}"/>
              </a:ext>
            </a:extLst>
          </p:cNvPr>
          <p:cNvSpPr/>
          <p:nvPr/>
        </p:nvSpPr>
        <p:spPr>
          <a:xfrm>
            <a:off x="1" y="-66040"/>
            <a:ext cx="12257689" cy="1107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/>
              </a:rPr>
              <a:t>Analysis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3864D-46F6-04B6-2878-220A43AC2C3F}"/>
              </a:ext>
            </a:extLst>
          </p:cNvPr>
          <p:cNvSpPr txBox="1"/>
          <p:nvPr/>
        </p:nvSpPr>
        <p:spPr>
          <a:xfrm>
            <a:off x="519543" y="1312809"/>
            <a:ext cx="632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Table of Parametric Estimators and Test Statistic: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B6571C-4E4C-DE6E-8245-A37EE9FCDDA6}"/>
                  </a:ext>
                </a:extLst>
              </p:cNvPr>
              <p:cNvSpPr txBox="1"/>
              <p:nvPr/>
            </p:nvSpPr>
            <p:spPr>
              <a:xfrm>
                <a:off x="883226" y="5294761"/>
                <a:ext cx="114507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dirty="0">
                    <a:effectLst/>
                    <a:latin typeface="Palatino Linotype" panose="020405020505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From the above test we conclude that the data follows Exponential – Gamma(</a:t>
                </a:r>
                <a14:m>
                  <m:oMath xmlns:m="http://schemas.openxmlformats.org/officeDocument/2006/math"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3,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sz="1800" dirty="0">
                    <a:effectLst/>
                    <a:latin typeface="Palatino Linotype" panose="02040502050505030304" pitchFamily="18" charset="0"/>
                    <a:ea typeface="Yu Mincho" panose="02020400000000000000" pitchFamily="18" charset="-128"/>
                    <a:cs typeface="Arial" panose="020B0604020202020204" pitchFamily="34" charset="0"/>
                  </a:rPr>
                  <a:t>) as well as</a:t>
                </a:r>
              </a:p>
              <a:p>
                <a:r>
                  <a:rPr lang="en-IN" sz="1800" dirty="0">
                    <a:effectLst/>
                    <a:latin typeface="Palatino Linotype" panose="020405020505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Exponentiated – Exponential distribution but not Exponential distribution.</a:t>
                </a:r>
                <a:endParaRPr lang="en-US" sz="1800" dirty="0">
                  <a:effectLst/>
                  <a:latin typeface="Palatino Linotype" panose="020405020505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B6571C-4E4C-DE6E-8245-A37EE9FCD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26" y="5294761"/>
                <a:ext cx="11450781" cy="646331"/>
              </a:xfrm>
              <a:prstGeom prst="rect">
                <a:avLst/>
              </a:prstGeom>
              <a:blipFill>
                <a:blip r:embed="rId2"/>
                <a:stretch>
                  <a:fillRect l="-479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839451C-9499-00C2-F5C2-53A5ADAF98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1960579"/>
                  </p:ext>
                </p:extLst>
              </p:nvPr>
            </p:nvGraphicFramePr>
            <p:xfrm>
              <a:off x="1549313" y="1872392"/>
              <a:ext cx="9093373" cy="311321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320534">
                      <a:extLst>
                        <a:ext uri="{9D8B030D-6E8A-4147-A177-3AD203B41FA5}">
                          <a16:colId xmlns:a16="http://schemas.microsoft.com/office/drawing/2014/main" val="1150822329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3498006366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1458515629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330948111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Distributions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Maximum Likelihood Estimator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K-S Calculated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K-S Critical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11399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Exponential(θ)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0.003533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0.1402398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800" dirty="0">
                              <a:effectLst/>
                              <a:latin typeface="Palatino Linotype" panose="02040502050505030304" pitchFamily="18" charset="0"/>
                            </a:rPr>
                            <a:t> 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0.105876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41710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Exponentiated-Exponential(α,β)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acc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1.65933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0.004783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0.06017263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276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Exponential-Gamma(3,θ)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0.0108063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0.10015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75866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839451C-9499-00C2-F5C2-53A5ADAF98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1960579"/>
                  </p:ext>
                </p:extLst>
              </p:nvPr>
            </p:nvGraphicFramePr>
            <p:xfrm>
              <a:off x="1549313" y="1872392"/>
              <a:ext cx="9093373" cy="3113216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320534">
                      <a:extLst>
                        <a:ext uri="{9D8B030D-6E8A-4147-A177-3AD203B41FA5}">
                          <a16:colId xmlns:a16="http://schemas.microsoft.com/office/drawing/2014/main" val="1150822329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3498006366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1458515629"/>
                        </a:ext>
                      </a:extLst>
                    </a:gridCol>
                    <a:gridCol w="2257613">
                      <a:extLst>
                        <a:ext uri="{9D8B030D-6E8A-4147-A177-3AD203B41FA5}">
                          <a16:colId xmlns:a16="http://schemas.microsoft.com/office/drawing/2014/main" val="3309481116"/>
                        </a:ext>
                      </a:extLst>
                    </a:gridCol>
                  </a:tblGrid>
                  <a:tr h="9284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Distributions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Maximum Likelihood Estimator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K-S Calculated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K-S Critical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1139916"/>
                      </a:ext>
                    </a:extLst>
                  </a:tr>
                  <a:tr h="6263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Exponential(θ)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243" t="-156311" r="-200811" b="-2718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0.1402398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IN" sz="1800" dirty="0">
                              <a:effectLst/>
                              <a:latin typeface="Palatino Linotype" panose="02040502050505030304" pitchFamily="18" charset="0"/>
                            </a:rPr>
                            <a:t> 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0.105876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4171073"/>
                      </a:ext>
                    </a:extLst>
                  </a:tr>
                  <a:tr h="9455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Exponentiated-Exponential(α,β)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243" t="-170323" r="-200811" b="-8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0.06017263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276647"/>
                      </a:ext>
                    </a:extLst>
                  </a:tr>
                  <a:tr h="6129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Palatino Linotype" panose="02040502050505030304" pitchFamily="18" charset="0"/>
                            </a:rPr>
                            <a:t>Exponential-Gamma(3,θ)</a:t>
                          </a: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243" t="-414851" r="-200811" b="-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Palatino Linotype" panose="02040502050505030304" pitchFamily="18" charset="0"/>
                            </a:rPr>
                            <a:t>0.10015</a:t>
                          </a: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75866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4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AEDDBE-FD54-1925-E02F-BFF7B40EB538}"/>
              </a:ext>
            </a:extLst>
          </p:cNvPr>
          <p:cNvSpPr/>
          <p:nvPr/>
        </p:nvSpPr>
        <p:spPr>
          <a:xfrm>
            <a:off x="1" y="-66040"/>
            <a:ext cx="12257689" cy="1107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/>
              </a:rPr>
              <a:t>Analysis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9571E-3C06-2687-013D-6EE4AAF4A6A4}"/>
              </a:ext>
            </a:extLst>
          </p:cNvPr>
          <p:cNvSpPr txBox="1"/>
          <p:nvPr/>
        </p:nvSpPr>
        <p:spPr>
          <a:xfrm>
            <a:off x="403454" y="1497579"/>
            <a:ext cx="927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To identify the distribution that fits the best using model selection criteria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1200C10-3950-5ACD-DCBD-227BF827D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087887"/>
                  </p:ext>
                </p:extLst>
              </p:nvPr>
            </p:nvGraphicFramePr>
            <p:xfrm>
              <a:off x="716078" y="2106983"/>
              <a:ext cx="8988135" cy="250411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513757">
                      <a:extLst>
                        <a:ext uri="{9D8B030D-6E8A-4147-A177-3AD203B41FA5}">
                          <a16:colId xmlns:a16="http://schemas.microsoft.com/office/drawing/2014/main" val="1651452712"/>
                        </a:ext>
                      </a:extLst>
                    </a:gridCol>
                    <a:gridCol w="2169678">
                      <a:extLst>
                        <a:ext uri="{9D8B030D-6E8A-4147-A177-3AD203B41FA5}">
                          <a16:colId xmlns:a16="http://schemas.microsoft.com/office/drawing/2014/main" val="2856738173"/>
                        </a:ext>
                      </a:extLst>
                    </a:gridCol>
                    <a:gridCol w="2152350">
                      <a:extLst>
                        <a:ext uri="{9D8B030D-6E8A-4147-A177-3AD203B41FA5}">
                          <a16:colId xmlns:a16="http://schemas.microsoft.com/office/drawing/2014/main" val="4010252658"/>
                        </a:ext>
                      </a:extLst>
                    </a:gridCol>
                    <a:gridCol w="2152350">
                      <a:extLst>
                        <a:ext uri="{9D8B030D-6E8A-4147-A177-3AD203B41FA5}">
                          <a16:colId xmlns:a16="http://schemas.microsoft.com/office/drawing/2014/main" val="3494652610"/>
                        </a:ext>
                      </a:extLst>
                    </a:gridCol>
                  </a:tblGrid>
                  <a:tr h="4827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Distributions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Log–Likelihood Ratio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   AIC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 BIC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8303134"/>
                      </a:ext>
                    </a:extLst>
                  </a:tr>
                  <a:tr h="48837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Exponential(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)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848391"/>
                      </a:ext>
                    </a:extLst>
                  </a:tr>
                  <a:tr h="7377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Exponentiated-Exponential(α,β)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7634846"/>
                      </a:ext>
                    </a:extLst>
                  </a:tr>
                  <a:tr h="6650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Exponential-Gamma(3,θ)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08097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1200C10-3950-5ACD-DCBD-227BF827D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087887"/>
                  </p:ext>
                </p:extLst>
              </p:nvPr>
            </p:nvGraphicFramePr>
            <p:xfrm>
              <a:off x="716078" y="2106983"/>
              <a:ext cx="8988135" cy="2504111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513757">
                      <a:extLst>
                        <a:ext uri="{9D8B030D-6E8A-4147-A177-3AD203B41FA5}">
                          <a16:colId xmlns:a16="http://schemas.microsoft.com/office/drawing/2014/main" val="1651452712"/>
                        </a:ext>
                      </a:extLst>
                    </a:gridCol>
                    <a:gridCol w="2169678">
                      <a:extLst>
                        <a:ext uri="{9D8B030D-6E8A-4147-A177-3AD203B41FA5}">
                          <a16:colId xmlns:a16="http://schemas.microsoft.com/office/drawing/2014/main" val="2856738173"/>
                        </a:ext>
                      </a:extLst>
                    </a:gridCol>
                    <a:gridCol w="2152350">
                      <a:extLst>
                        <a:ext uri="{9D8B030D-6E8A-4147-A177-3AD203B41FA5}">
                          <a16:colId xmlns:a16="http://schemas.microsoft.com/office/drawing/2014/main" val="4010252658"/>
                        </a:ext>
                      </a:extLst>
                    </a:gridCol>
                    <a:gridCol w="2152350">
                      <a:extLst>
                        <a:ext uri="{9D8B030D-6E8A-4147-A177-3AD203B41FA5}">
                          <a16:colId xmlns:a16="http://schemas.microsoft.com/office/drawing/2014/main" val="3494652610"/>
                        </a:ext>
                      </a:extLst>
                    </a:gridCol>
                  </a:tblGrid>
                  <a:tr h="6129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Distributions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Log–Likelihood Ratio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   AIC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 BIC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8303134"/>
                      </a:ext>
                    </a:extLst>
                  </a:tr>
                  <a:tr h="488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2" t="-136250" r="-257627" b="-3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848391"/>
                      </a:ext>
                    </a:extLst>
                  </a:tr>
                  <a:tr h="7377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Exponentiated-Exponential(α,β)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7634846"/>
                      </a:ext>
                    </a:extLst>
                  </a:tr>
                  <a:tr h="6650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Palatino Linotype" panose="02040502050505030304" pitchFamily="18" charset="0"/>
                            </a:rPr>
                            <a:t>Exponential-Gamma(3,θ)</a:t>
                          </a:r>
                          <a:endParaRPr lang="en-US" sz="1800" b="1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Palatino Linotype" panose="020405020505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0809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1541770-985D-7C84-ACE3-E1D3CE2FDABB}"/>
              </a:ext>
            </a:extLst>
          </p:cNvPr>
          <p:cNvSpPr txBox="1"/>
          <p:nvPr/>
        </p:nvSpPr>
        <p:spPr>
          <a:xfrm>
            <a:off x="3503408" y="2622236"/>
            <a:ext cx="158031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-1096.499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-1087.905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-1074.336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CA3C9-9AAB-6533-BF54-FB3FDD130162}"/>
              </a:ext>
            </a:extLst>
          </p:cNvPr>
          <p:cNvSpPr txBox="1"/>
          <p:nvPr/>
        </p:nvSpPr>
        <p:spPr>
          <a:xfrm>
            <a:off x="6092536" y="2071449"/>
            <a:ext cx="148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200" dirty="0"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+mn-ea"/>
                <a:cs typeface="+mn-cs"/>
              </a:rPr>
              <a:t>= 2k - 2ln(L)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A4C91-873E-FA09-3D9F-2C10E00FB07D}"/>
              </a:ext>
            </a:extLst>
          </p:cNvPr>
          <p:cNvSpPr txBox="1"/>
          <p:nvPr/>
        </p:nvSpPr>
        <p:spPr>
          <a:xfrm>
            <a:off x="8032500" y="2071989"/>
            <a:ext cx="17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kern="1200" dirty="0"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+mn-ea"/>
                <a:cs typeface="+mn-cs"/>
              </a:rPr>
              <a:t>= </a:t>
            </a:r>
            <a:r>
              <a:rPr lang="en-IN" sz="1800" b="1" kern="1200" dirty="0" err="1"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+mn-ea"/>
                <a:cs typeface="+mn-cs"/>
              </a:rPr>
              <a:t>kln</a:t>
            </a:r>
            <a:r>
              <a:rPr lang="en-IN" sz="1800" b="1" kern="1200" dirty="0"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+mn-ea"/>
                <a:cs typeface="+mn-cs"/>
              </a:rPr>
              <a:t>(n)-2ln(L)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CE7C0-1F91-57C0-B897-CF9FAFE004A0}"/>
              </a:ext>
            </a:extLst>
          </p:cNvPr>
          <p:cNvSpPr txBox="1"/>
          <p:nvPr/>
        </p:nvSpPr>
        <p:spPr>
          <a:xfrm>
            <a:off x="5919355" y="2624536"/>
            <a:ext cx="1080654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2194.997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2179.809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2150.673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32B01-8585-10A3-0CF2-7F647BAB0F53}"/>
              </a:ext>
            </a:extLst>
          </p:cNvPr>
          <p:cNvSpPr txBox="1"/>
          <p:nvPr/>
        </p:nvSpPr>
        <p:spPr>
          <a:xfrm>
            <a:off x="7978304" y="2622235"/>
            <a:ext cx="1193162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2198.103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2186.021</a:t>
            </a: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algn="ctr" rtl="0" eaLnBrk="1" fontAlgn="t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2153.76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49507-3722-3D9A-80B6-34714B0D8681}"/>
              </a:ext>
            </a:extLst>
          </p:cNvPr>
          <p:cNvSpPr txBox="1"/>
          <p:nvPr/>
        </p:nvSpPr>
        <p:spPr>
          <a:xfrm>
            <a:off x="741158" y="4991090"/>
            <a:ext cx="10775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Exponential-Gamma has the highest score in Log-Likelihood and lowest score AIC and BIC. </a:t>
            </a:r>
          </a:p>
          <a:p>
            <a:r>
              <a:rPr lang="en-US" sz="1800" dirty="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Hence, Exponential-Gamma provides the better fit to the data.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06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8E2823-A6FF-9361-9A51-03E0D5A18E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7" y="2017435"/>
            <a:ext cx="3822716" cy="2823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766CDA-6344-F762-B8C6-8F4033C1CF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450" y="2017435"/>
            <a:ext cx="3769100" cy="2823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5AB193-0332-877D-CD68-DA5060B173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211" y="2017435"/>
            <a:ext cx="3822716" cy="28231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AB5DE5-AC70-D10D-604F-BC3E0CA27D0A}"/>
              </a:ext>
            </a:extLst>
          </p:cNvPr>
          <p:cNvSpPr/>
          <p:nvPr/>
        </p:nvSpPr>
        <p:spPr>
          <a:xfrm>
            <a:off x="1" y="-76431"/>
            <a:ext cx="12257689" cy="1107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 dirty="0">
                <a:solidFill>
                  <a:srgbClr val="1B3728"/>
                </a:solidFill>
                <a:latin typeface="Palatino Linotype"/>
              </a:rPr>
              <a:t>Analysis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6D41C-22F2-AB92-2427-6584D978301E}"/>
              </a:ext>
            </a:extLst>
          </p:cNvPr>
          <p:cNvSpPr txBox="1"/>
          <p:nvPr/>
        </p:nvSpPr>
        <p:spPr>
          <a:xfrm>
            <a:off x="467591" y="1350818"/>
            <a:ext cx="356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Palatino Linotype" panose="02040502050505030304" pitchFamily="18" charset="0"/>
              </a:rPr>
              <a:t>PP Plot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E6943-BC46-52FC-1FCB-DF1E23F96C58}"/>
              </a:ext>
            </a:extLst>
          </p:cNvPr>
          <p:cNvSpPr txBox="1"/>
          <p:nvPr/>
        </p:nvSpPr>
        <p:spPr>
          <a:xfrm>
            <a:off x="654626" y="5216546"/>
            <a:ext cx="11284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From the above plots, the points lie very close to the reference line for Exponential- Gamma Distribution. Hence, Exponential- Gamma</a:t>
            </a:r>
            <a:r>
              <a:rPr lang="en-US" sz="180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(3, 𝜃)</a:t>
            </a:r>
            <a:r>
              <a:rPr lang="en-IN" sz="180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Distribution provides a better fit than Exponential distribution and Exponentiated-Exponential distribution.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730241-1F2C-D7FA-7F91-87CEFA794E11}"/>
              </a:ext>
            </a:extLst>
          </p:cNvPr>
          <p:cNvGrpSpPr/>
          <p:nvPr/>
        </p:nvGrpSpPr>
        <p:grpSpPr>
          <a:xfrm>
            <a:off x="0" y="0"/>
            <a:ext cx="3584864" cy="6858000"/>
            <a:chOff x="0" y="0"/>
            <a:chExt cx="3107622" cy="68580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117AE4B-AC6D-1DE0-F5DA-1CE5C2AA4D44}"/>
                </a:ext>
              </a:extLst>
            </p:cNvPr>
            <p:cNvSpPr txBox="1"/>
            <p:nvPr/>
          </p:nvSpPr>
          <p:spPr>
            <a:xfrm>
              <a:off x="0" y="0"/>
              <a:ext cx="2615381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047306-95A9-FEB8-2A1E-E25DE66E32D6}"/>
                </a:ext>
              </a:extLst>
            </p:cNvPr>
            <p:cNvSpPr txBox="1"/>
            <p:nvPr/>
          </p:nvSpPr>
          <p:spPr>
            <a:xfrm>
              <a:off x="198167" y="2829527"/>
              <a:ext cx="29094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Palatino Linotype" panose="02040502050505030304" pitchFamily="18" charset="0"/>
                </a:rPr>
                <a:t>Conclusion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C7BA7D0-13C3-DB14-97FE-54685DC3DE4B}"/>
              </a:ext>
            </a:extLst>
          </p:cNvPr>
          <p:cNvSpPr txBox="1"/>
          <p:nvPr/>
        </p:nvSpPr>
        <p:spPr>
          <a:xfrm>
            <a:off x="3512127" y="1614883"/>
            <a:ext cx="78970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alatino Linotype" panose="02040502050505030304" pitchFamily="18" charset="0"/>
              </a:rPr>
              <a:t>Applications of Exponential-Gamma (3, 𝜃) distribution to real data shows that Exponential-Gamma (3, 𝜃) distribution is effective in providing better fits than the Exponential and Exponentiated Exponential distribution.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DADDD-BB72-2950-3468-2600323E0214}"/>
              </a:ext>
            </a:extLst>
          </p:cNvPr>
          <p:cNvSpPr txBox="1"/>
          <p:nvPr/>
        </p:nvSpPr>
        <p:spPr>
          <a:xfrm>
            <a:off x="3512127" y="3613729"/>
            <a:ext cx="7897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Palatino Linotype" panose="02040502050505030304" pitchFamily="18" charset="0"/>
              </a:rPr>
              <a:t>Kolmogrov</a:t>
            </a:r>
            <a:r>
              <a:rPr lang="en-US" sz="2000" dirty="0">
                <a:latin typeface="Palatino Linotype" panose="02040502050505030304" pitchFamily="18" charset="0"/>
              </a:rPr>
              <a:t> - </a:t>
            </a:r>
            <a:r>
              <a:rPr lang="en-US" sz="2000" dirty="0" err="1">
                <a:latin typeface="Palatino Linotype" panose="02040502050505030304" pitchFamily="18" charset="0"/>
              </a:rPr>
              <a:t>Smirinov</a:t>
            </a:r>
            <a:r>
              <a:rPr lang="en-US" sz="2000" dirty="0">
                <a:latin typeface="Palatino Linotype" panose="02040502050505030304" pitchFamily="18" charset="0"/>
              </a:rPr>
              <a:t> test, AIC &amp; BIC values , PP plot indicates  that Exponential-Gamma(3, 𝜃) provides better fit then the other two distributions.</a:t>
            </a:r>
          </a:p>
        </p:txBody>
      </p:sp>
    </p:spTree>
    <p:extLst>
      <p:ext uri="{BB962C8B-B14F-4D97-AF65-F5344CB8AC3E}">
        <p14:creationId xmlns:p14="http://schemas.microsoft.com/office/powerpoint/2010/main" val="200274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2A44F7-C3EB-2983-FAC8-167827B833FB}"/>
              </a:ext>
            </a:extLst>
          </p:cNvPr>
          <p:cNvGrpSpPr/>
          <p:nvPr/>
        </p:nvGrpSpPr>
        <p:grpSpPr>
          <a:xfrm>
            <a:off x="0" y="-10391"/>
            <a:ext cx="2615381" cy="6858000"/>
            <a:chOff x="0" y="-10391"/>
            <a:chExt cx="2615381" cy="68580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117AE4B-AC6D-1DE0-F5DA-1CE5C2AA4D44}"/>
                </a:ext>
              </a:extLst>
            </p:cNvPr>
            <p:cNvSpPr txBox="1"/>
            <p:nvPr/>
          </p:nvSpPr>
          <p:spPr>
            <a:xfrm>
              <a:off x="0" y="-10391"/>
              <a:ext cx="2615381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047306-95A9-FEB8-2A1E-E25DE66E32D6}"/>
                </a:ext>
              </a:extLst>
            </p:cNvPr>
            <p:cNvSpPr txBox="1"/>
            <p:nvPr/>
          </p:nvSpPr>
          <p:spPr>
            <a:xfrm>
              <a:off x="98713" y="2772278"/>
              <a:ext cx="25166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Palatino Linotype" panose="02040502050505030304" pitchFamily="18" charset="0"/>
                </a:rPr>
                <a:t>References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CD2C8F9-B39B-339B-AA3F-DBFE2FA38BD0}"/>
              </a:ext>
            </a:extLst>
          </p:cNvPr>
          <p:cNvSpPr txBox="1"/>
          <p:nvPr/>
        </p:nvSpPr>
        <p:spPr>
          <a:xfrm>
            <a:off x="2847109" y="1431017"/>
            <a:ext cx="9246178" cy="492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</a:t>
            </a: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tps://digitalcommons.wayne.edu/cgi/viewcontent.cgi?article=1916&amp;context=jmasm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https://www.researchgate.net/publication/358743397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https://home.iitk.ac.in/~kundu/paper59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https://www.statisticshowto.com/kolmogorov-smirnov-test/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https://en.wikipedia.org/wiki/Akaike_information_criterion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https://en.wikipedia.org/wiki/Bayesian_information_criterion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u="sng" dirty="0">
                <a:solidFill>
                  <a:srgbClr val="0563C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https://en.wikipedia.org/wiki/P%E2%80%93P_plot</a:t>
            </a:r>
            <a:endParaRPr lang="en-IN" sz="1800" u="sng" dirty="0">
              <a:solidFill>
                <a:srgbClr val="0563C1"/>
              </a:solidFill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https://www.kaggle.com/code/saychakra/survival-analysis-of-lung-cancer-patients/data</a:t>
            </a:r>
            <a:r>
              <a:rPr lang="en-IN" u="sng" dirty="0">
                <a:solidFill>
                  <a:srgbClr val="0563C1"/>
                </a:solidFill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effectLst/>
              <a:latin typeface="Palatino Linotype" panose="020405020505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44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3E0B87C-EBCF-1481-2425-2E3B091B0D76}"/>
              </a:ext>
            </a:extLst>
          </p:cNvPr>
          <p:cNvGrpSpPr/>
          <p:nvPr/>
        </p:nvGrpSpPr>
        <p:grpSpPr>
          <a:xfrm>
            <a:off x="2161655" y="1221854"/>
            <a:ext cx="7868689" cy="4414288"/>
            <a:chOff x="2161655" y="1221854"/>
            <a:chExt cx="7868689" cy="44142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1CF793-0CBE-EBEB-9B9E-44F1CF2D094E}"/>
                </a:ext>
              </a:extLst>
            </p:cNvPr>
            <p:cNvSpPr/>
            <p:nvPr/>
          </p:nvSpPr>
          <p:spPr>
            <a:xfrm>
              <a:off x="2161655" y="1221854"/>
              <a:ext cx="7868689" cy="44142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828A59-9143-9511-8A5E-747207565954}"/>
                </a:ext>
              </a:extLst>
            </p:cNvPr>
            <p:cNvSpPr txBox="1"/>
            <p:nvPr/>
          </p:nvSpPr>
          <p:spPr>
            <a:xfrm>
              <a:off x="3500120" y="2828834"/>
              <a:ext cx="51917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>
                  <a:latin typeface="Palatino Linotype" panose="02040502050505030304" pitchFamily="18" charset="0"/>
                </a:rPr>
                <a:t>Thank You</a:t>
              </a:r>
              <a:endParaRPr lang="en-IN" sz="7200" b="1" dirty="0">
                <a:latin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741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1276</Words>
  <Application>Microsoft Office PowerPoint</Application>
  <PresentationFormat>Widescreen</PresentationFormat>
  <Paragraphs>222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Algerian</vt:lpstr>
      <vt:lpstr>Arial</vt:lpstr>
      <vt:lpstr>Bookman Old Style</vt:lpstr>
      <vt:lpstr>Calibri</vt:lpstr>
      <vt:lpstr>Calibri Light</vt:lpstr>
      <vt:lpstr>Cambria Math</vt:lpstr>
      <vt:lpstr>Georgia Pro</vt:lpstr>
      <vt:lpstr>Open sans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Sarah Job</dc:creator>
  <cp:lastModifiedBy>Angela Sarah Job</cp:lastModifiedBy>
  <cp:revision>56</cp:revision>
  <dcterms:created xsi:type="dcterms:W3CDTF">2022-11-26T05:50:00Z</dcterms:created>
  <dcterms:modified xsi:type="dcterms:W3CDTF">2022-11-28T16:21:25Z</dcterms:modified>
</cp:coreProperties>
</file>